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4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5.xml" ContentType="application/vnd.openxmlformats-officedocument.theme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6.xml" ContentType="application/vnd.openxmlformats-officedocument.theme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theme/theme7.xml" ContentType="application/vnd.openxmlformats-officedocument.theme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theme/theme8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90" r:id="rId3"/>
    <p:sldMasterId id="2147483707" r:id="rId4"/>
    <p:sldMasterId id="2147483725" r:id="rId5"/>
    <p:sldMasterId id="2147483743" r:id="rId6"/>
    <p:sldMasterId id="2147483761" r:id="rId7"/>
    <p:sldMasterId id="2147483779" r:id="rId8"/>
  </p:sldMasterIdLst>
  <p:sldIdLst>
    <p:sldId id="263" r:id="rId9"/>
    <p:sldId id="266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3.xml"/><Relationship Id="rId34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8" Type="http://schemas.openxmlformats.org/officeDocument/2006/relationships/slideMaster" Target="slideMasters/slideMaster8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10" Type="http://schemas.openxmlformats.org/officeDocument/2006/relationships/image" Target="../media/image43.svg"/><Relationship Id="rId4" Type="http://schemas.openxmlformats.org/officeDocument/2006/relationships/image" Target="../media/image37.svg"/><Relationship Id="rId9" Type="http://schemas.openxmlformats.org/officeDocument/2006/relationships/image" Target="../media/image42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10" Type="http://schemas.openxmlformats.org/officeDocument/2006/relationships/image" Target="../media/image43.svg"/><Relationship Id="rId4" Type="http://schemas.openxmlformats.org/officeDocument/2006/relationships/image" Target="../media/image37.svg"/><Relationship Id="rId9" Type="http://schemas.openxmlformats.org/officeDocument/2006/relationships/image" Target="../media/image4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56325FD-1DA6-4450-BF77-FB9797A72EC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5C76811E-3E60-4513-B419-84C8B8C717F5}">
      <dgm:prSet/>
      <dgm:spPr/>
      <dgm:t>
        <a:bodyPr/>
        <a:lstStyle/>
        <a:p>
          <a:r>
            <a:rPr lang="en-GB"/>
            <a:t>Very Early stage for market ready </a:t>
          </a:r>
          <a:endParaRPr lang="en-US"/>
        </a:p>
      </dgm:t>
    </dgm:pt>
    <dgm:pt modelId="{59294ED3-C75E-4F9E-9A15-27C7B8059C2A}" type="parTrans" cxnId="{6A6D50B8-8B3F-49A2-B4C3-C7D23D8A9D0B}">
      <dgm:prSet/>
      <dgm:spPr/>
      <dgm:t>
        <a:bodyPr/>
        <a:lstStyle/>
        <a:p>
          <a:endParaRPr lang="en-US"/>
        </a:p>
      </dgm:t>
    </dgm:pt>
    <dgm:pt modelId="{43FE7BC8-DC7B-4961-B097-6C4D524E128E}" type="sibTrans" cxnId="{6A6D50B8-8B3F-49A2-B4C3-C7D23D8A9D0B}">
      <dgm:prSet/>
      <dgm:spPr/>
      <dgm:t>
        <a:bodyPr/>
        <a:lstStyle/>
        <a:p>
          <a:endParaRPr lang="en-US"/>
        </a:p>
      </dgm:t>
    </dgm:pt>
    <dgm:pt modelId="{44B228A9-DE7D-4574-910B-3874E5CF7CD1}">
      <dgm:prSet/>
      <dgm:spPr/>
      <dgm:t>
        <a:bodyPr/>
        <a:lstStyle/>
        <a:p>
          <a:r>
            <a:rPr lang="en-GB" dirty="0"/>
            <a:t>Weather data is unique and require new methodologies to be developed</a:t>
          </a:r>
          <a:endParaRPr lang="en-US" dirty="0"/>
        </a:p>
      </dgm:t>
    </dgm:pt>
    <dgm:pt modelId="{2E761ADA-3F07-4ACD-959F-7846A36BE6F9}" type="parTrans" cxnId="{8769E0B4-9ECD-43F4-90EB-7A135A7E0AD3}">
      <dgm:prSet/>
      <dgm:spPr/>
      <dgm:t>
        <a:bodyPr/>
        <a:lstStyle/>
        <a:p>
          <a:endParaRPr lang="en-US"/>
        </a:p>
      </dgm:t>
    </dgm:pt>
    <dgm:pt modelId="{97EDFB15-96EB-4060-9C85-2E024EDF2212}" type="sibTrans" cxnId="{8769E0B4-9ECD-43F4-90EB-7A135A7E0AD3}">
      <dgm:prSet/>
      <dgm:spPr/>
      <dgm:t>
        <a:bodyPr/>
        <a:lstStyle/>
        <a:p>
          <a:endParaRPr lang="en-US"/>
        </a:p>
      </dgm:t>
    </dgm:pt>
    <dgm:pt modelId="{C7A581F4-5A24-4425-B067-EB512C66F2D6}">
      <dgm:prSet/>
      <dgm:spPr/>
      <dgm:t>
        <a:bodyPr/>
        <a:lstStyle/>
        <a:p>
          <a:r>
            <a:rPr lang="en-GB" dirty="0"/>
            <a:t>At the moment it can be applied effectively to understand meteorological phenomenon</a:t>
          </a:r>
          <a:endParaRPr lang="en-US" dirty="0"/>
        </a:p>
      </dgm:t>
    </dgm:pt>
    <dgm:pt modelId="{9A5D6E99-ECA1-4D3F-919F-D7E0D720C996}" type="parTrans" cxnId="{27FF09F5-7D31-4F1A-B79C-623FA6FB4080}">
      <dgm:prSet/>
      <dgm:spPr/>
      <dgm:t>
        <a:bodyPr/>
        <a:lstStyle/>
        <a:p>
          <a:endParaRPr lang="en-US"/>
        </a:p>
      </dgm:t>
    </dgm:pt>
    <dgm:pt modelId="{0BA8E83E-053F-4DCA-8A12-B08DFFBC2233}" type="sibTrans" cxnId="{27FF09F5-7D31-4F1A-B79C-623FA6FB4080}">
      <dgm:prSet/>
      <dgm:spPr/>
      <dgm:t>
        <a:bodyPr/>
        <a:lstStyle/>
        <a:p>
          <a:endParaRPr lang="en-US"/>
        </a:p>
      </dgm:t>
    </dgm:pt>
    <dgm:pt modelId="{B99E38FA-69B9-458E-955D-A1D13FFEFD8C}">
      <dgm:prSet/>
      <dgm:spPr/>
      <dgm:t>
        <a:bodyPr/>
        <a:lstStyle/>
        <a:p>
          <a:r>
            <a:rPr lang="en-GB"/>
            <a:t>It has number of associated challenges</a:t>
          </a:r>
          <a:endParaRPr lang="en-US"/>
        </a:p>
      </dgm:t>
    </dgm:pt>
    <dgm:pt modelId="{3F3D9291-B41B-4B25-B68B-34FB9C67A36C}" type="parTrans" cxnId="{3D3BA870-CD3C-4553-B2F8-D83D03928D30}">
      <dgm:prSet/>
      <dgm:spPr/>
      <dgm:t>
        <a:bodyPr/>
        <a:lstStyle/>
        <a:p>
          <a:endParaRPr lang="en-US"/>
        </a:p>
      </dgm:t>
    </dgm:pt>
    <dgm:pt modelId="{3931256A-AFA6-4751-A57B-92CB8E8674D8}" type="sibTrans" cxnId="{3D3BA870-CD3C-4553-B2F8-D83D03928D30}">
      <dgm:prSet/>
      <dgm:spPr/>
      <dgm:t>
        <a:bodyPr/>
        <a:lstStyle/>
        <a:p>
          <a:endParaRPr lang="en-US"/>
        </a:p>
      </dgm:t>
    </dgm:pt>
    <dgm:pt modelId="{09131139-99DA-4543-BB21-1BDBBE01F9EB}">
      <dgm:prSet/>
      <dgm:spPr/>
      <dgm:t>
        <a:bodyPr/>
        <a:lstStyle/>
        <a:p>
          <a:r>
            <a:rPr lang="en-GB" dirty="0"/>
            <a:t>Currently it is very open to collaboration</a:t>
          </a:r>
          <a:endParaRPr lang="en-US" dirty="0"/>
        </a:p>
      </dgm:t>
    </dgm:pt>
    <dgm:pt modelId="{FE9ADF23-515C-4505-BB7F-3B5899B1825C}" type="parTrans" cxnId="{DF5F00CD-21D6-4005-B3C9-A6A1F4C6D1C9}">
      <dgm:prSet/>
      <dgm:spPr/>
      <dgm:t>
        <a:bodyPr/>
        <a:lstStyle/>
        <a:p>
          <a:endParaRPr lang="en-US"/>
        </a:p>
      </dgm:t>
    </dgm:pt>
    <dgm:pt modelId="{23F49DE4-2F20-4626-A93A-289F7DD88B81}" type="sibTrans" cxnId="{DF5F00CD-21D6-4005-B3C9-A6A1F4C6D1C9}">
      <dgm:prSet/>
      <dgm:spPr/>
      <dgm:t>
        <a:bodyPr/>
        <a:lstStyle/>
        <a:p>
          <a:endParaRPr lang="en-US"/>
        </a:p>
      </dgm:t>
    </dgm:pt>
    <dgm:pt modelId="{60BBF7F6-2961-4804-957B-EAE5B9C30919}" type="pres">
      <dgm:prSet presAssocID="{556325FD-1DA6-4450-BF77-FB9797A72ECE}" presName="root" presStyleCnt="0">
        <dgm:presLayoutVars>
          <dgm:dir/>
          <dgm:resizeHandles val="exact"/>
        </dgm:presLayoutVars>
      </dgm:prSet>
      <dgm:spPr/>
    </dgm:pt>
    <dgm:pt modelId="{F1E94C9C-5B02-4C3E-A990-1705DF9F1430}" type="pres">
      <dgm:prSet presAssocID="{5C76811E-3E60-4513-B419-84C8B8C717F5}" presName="compNode" presStyleCnt="0"/>
      <dgm:spPr/>
    </dgm:pt>
    <dgm:pt modelId="{D5CFD9C1-97E6-455D-A127-365E20640B8B}" type="pres">
      <dgm:prSet presAssocID="{5C76811E-3E60-4513-B419-84C8B8C717F5}" presName="bgRect" presStyleLbl="bgShp" presStyleIdx="0" presStyleCnt="5"/>
      <dgm:spPr/>
    </dgm:pt>
    <dgm:pt modelId="{5B2E3D53-BF61-4C66-A904-C6AFB8C0670B}" type="pres">
      <dgm:prSet presAssocID="{5C76811E-3E60-4513-B419-84C8B8C717F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A6C78926-E754-44D9-8CCA-37D9DF8A7779}" type="pres">
      <dgm:prSet presAssocID="{5C76811E-3E60-4513-B419-84C8B8C717F5}" presName="spaceRect" presStyleCnt="0"/>
      <dgm:spPr/>
    </dgm:pt>
    <dgm:pt modelId="{3FE84D05-1880-435C-9205-8D69FBB81638}" type="pres">
      <dgm:prSet presAssocID="{5C76811E-3E60-4513-B419-84C8B8C717F5}" presName="parTx" presStyleLbl="revTx" presStyleIdx="0" presStyleCnt="5">
        <dgm:presLayoutVars>
          <dgm:chMax val="0"/>
          <dgm:chPref val="0"/>
        </dgm:presLayoutVars>
      </dgm:prSet>
      <dgm:spPr/>
    </dgm:pt>
    <dgm:pt modelId="{F15195F2-2119-4138-892F-C3E3DA542DD9}" type="pres">
      <dgm:prSet presAssocID="{43FE7BC8-DC7B-4961-B097-6C4D524E128E}" presName="sibTrans" presStyleCnt="0"/>
      <dgm:spPr/>
    </dgm:pt>
    <dgm:pt modelId="{6A16FD0F-862A-45BA-AECC-7F91F3CA8A48}" type="pres">
      <dgm:prSet presAssocID="{44B228A9-DE7D-4574-910B-3874E5CF7CD1}" presName="compNode" presStyleCnt="0"/>
      <dgm:spPr/>
    </dgm:pt>
    <dgm:pt modelId="{95207D2B-5D23-4BF1-BC11-B54DCA5246C5}" type="pres">
      <dgm:prSet presAssocID="{44B228A9-DE7D-4574-910B-3874E5CF7CD1}" presName="bgRect" presStyleLbl="bgShp" presStyleIdx="1" presStyleCnt="5"/>
      <dgm:spPr/>
    </dgm:pt>
    <dgm:pt modelId="{582CA25B-E8C7-482B-9DD8-926573721063}" type="pres">
      <dgm:prSet presAssocID="{44B228A9-DE7D-4574-910B-3874E5CF7CD1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ning"/>
        </a:ext>
      </dgm:extLst>
    </dgm:pt>
    <dgm:pt modelId="{CE66A379-DED5-4D85-A1A8-FB142E52C635}" type="pres">
      <dgm:prSet presAssocID="{44B228A9-DE7D-4574-910B-3874E5CF7CD1}" presName="spaceRect" presStyleCnt="0"/>
      <dgm:spPr/>
    </dgm:pt>
    <dgm:pt modelId="{8CF1028D-AE63-48AB-90E6-1C7EB4909628}" type="pres">
      <dgm:prSet presAssocID="{44B228A9-DE7D-4574-910B-3874E5CF7CD1}" presName="parTx" presStyleLbl="revTx" presStyleIdx="1" presStyleCnt="5">
        <dgm:presLayoutVars>
          <dgm:chMax val="0"/>
          <dgm:chPref val="0"/>
        </dgm:presLayoutVars>
      </dgm:prSet>
      <dgm:spPr/>
    </dgm:pt>
    <dgm:pt modelId="{C207739F-182F-4AB7-99AB-C94C75064F52}" type="pres">
      <dgm:prSet presAssocID="{97EDFB15-96EB-4060-9C85-2E024EDF2212}" presName="sibTrans" presStyleCnt="0"/>
      <dgm:spPr/>
    </dgm:pt>
    <dgm:pt modelId="{28135C3F-2239-4DE3-83D8-75B774449438}" type="pres">
      <dgm:prSet presAssocID="{C7A581F4-5A24-4425-B067-EB512C66F2D6}" presName="compNode" presStyleCnt="0"/>
      <dgm:spPr/>
    </dgm:pt>
    <dgm:pt modelId="{CAA7171B-D2FF-4A9F-B228-860ED6A43F3B}" type="pres">
      <dgm:prSet presAssocID="{C7A581F4-5A24-4425-B067-EB512C66F2D6}" presName="bgRect" presStyleLbl="bgShp" presStyleIdx="2" presStyleCnt="5"/>
      <dgm:spPr/>
    </dgm:pt>
    <dgm:pt modelId="{BAE2A07F-25D9-499A-B8DE-CB1CC088F414}" type="pres">
      <dgm:prSet presAssocID="{C7A581F4-5A24-4425-B067-EB512C66F2D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rtial Sun"/>
        </a:ext>
      </dgm:extLst>
    </dgm:pt>
    <dgm:pt modelId="{0A0D3BF6-108E-4EAB-843E-E803F3DD23E0}" type="pres">
      <dgm:prSet presAssocID="{C7A581F4-5A24-4425-B067-EB512C66F2D6}" presName="spaceRect" presStyleCnt="0"/>
      <dgm:spPr/>
    </dgm:pt>
    <dgm:pt modelId="{E834F98D-0D4B-48CC-9B00-BD70B4C2E6A8}" type="pres">
      <dgm:prSet presAssocID="{C7A581F4-5A24-4425-B067-EB512C66F2D6}" presName="parTx" presStyleLbl="revTx" presStyleIdx="2" presStyleCnt="5">
        <dgm:presLayoutVars>
          <dgm:chMax val="0"/>
          <dgm:chPref val="0"/>
        </dgm:presLayoutVars>
      </dgm:prSet>
      <dgm:spPr/>
    </dgm:pt>
    <dgm:pt modelId="{24F904B2-E770-49FA-BA01-0902E2E80D3B}" type="pres">
      <dgm:prSet presAssocID="{0BA8E83E-053F-4DCA-8A12-B08DFFBC2233}" presName="sibTrans" presStyleCnt="0"/>
      <dgm:spPr/>
    </dgm:pt>
    <dgm:pt modelId="{F3B0FBBB-FA04-4D9E-9333-9F335FC4D904}" type="pres">
      <dgm:prSet presAssocID="{B99E38FA-69B9-458E-955D-A1D13FFEFD8C}" presName="compNode" presStyleCnt="0"/>
      <dgm:spPr/>
    </dgm:pt>
    <dgm:pt modelId="{6C46D568-043E-4F8B-B0A9-F1FB946451FA}" type="pres">
      <dgm:prSet presAssocID="{B99E38FA-69B9-458E-955D-A1D13FFEFD8C}" presName="bgRect" presStyleLbl="bgShp" presStyleIdx="3" presStyleCnt="5"/>
      <dgm:spPr/>
    </dgm:pt>
    <dgm:pt modelId="{F263DE25-EE07-4D4D-BA15-4D9E1654F389}" type="pres">
      <dgm:prSet presAssocID="{B99E38FA-69B9-458E-955D-A1D13FFEFD8C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C8A89774-61DC-453A-BD2B-123911F2B10C}" type="pres">
      <dgm:prSet presAssocID="{B99E38FA-69B9-458E-955D-A1D13FFEFD8C}" presName="spaceRect" presStyleCnt="0"/>
      <dgm:spPr/>
    </dgm:pt>
    <dgm:pt modelId="{39865F92-9356-49A1-879B-3D7B6C114BF9}" type="pres">
      <dgm:prSet presAssocID="{B99E38FA-69B9-458E-955D-A1D13FFEFD8C}" presName="parTx" presStyleLbl="revTx" presStyleIdx="3" presStyleCnt="5">
        <dgm:presLayoutVars>
          <dgm:chMax val="0"/>
          <dgm:chPref val="0"/>
        </dgm:presLayoutVars>
      </dgm:prSet>
      <dgm:spPr/>
    </dgm:pt>
    <dgm:pt modelId="{6A9E314A-21AB-47AA-A0ED-784A68644A1A}" type="pres">
      <dgm:prSet presAssocID="{3931256A-AFA6-4751-A57B-92CB8E8674D8}" presName="sibTrans" presStyleCnt="0"/>
      <dgm:spPr/>
    </dgm:pt>
    <dgm:pt modelId="{647D4613-B40B-40D8-B439-8675931E53E1}" type="pres">
      <dgm:prSet presAssocID="{09131139-99DA-4543-BB21-1BDBBE01F9EB}" presName="compNode" presStyleCnt="0"/>
      <dgm:spPr/>
    </dgm:pt>
    <dgm:pt modelId="{B51FB014-DF43-4804-84F1-F7FF56D53E75}" type="pres">
      <dgm:prSet presAssocID="{09131139-99DA-4543-BB21-1BDBBE01F9EB}" presName="bgRect" presStyleLbl="bgShp" presStyleIdx="4" presStyleCnt="5"/>
      <dgm:spPr/>
    </dgm:pt>
    <dgm:pt modelId="{F42CB9B7-653A-4D4A-A99D-EAA963441629}" type="pres">
      <dgm:prSet presAssocID="{09131139-99DA-4543-BB21-1BDBBE01F9EB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A2567250-78F4-4DF6-BC42-B32B557030C4}" type="pres">
      <dgm:prSet presAssocID="{09131139-99DA-4543-BB21-1BDBBE01F9EB}" presName="spaceRect" presStyleCnt="0"/>
      <dgm:spPr/>
    </dgm:pt>
    <dgm:pt modelId="{CC41DA0C-7E2C-4481-84D2-F541DD94533E}" type="pres">
      <dgm:prSet presAssocID="{09131139-99DA-4543-BB21-1BDBBE01F9EB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E7929B32-0898-48DA-91E9-A8C72790EE56}" type="presOf" srcId="{B99E38FA-69B9-458E-955D-A1D13FFEFD8C}" destId="{39865F92-9356-49A1-879B-3D7B6C114BF9}" srcOrd="0" destOrd="0" presId="urn:microsoft.com/office/officeart/2018/2/layout/IconVerticalSolidList"/>
    <dgm:cxn modelId="{0DB45C3E-A367-4C6F-BF43-4FEBAC060FCF}" type="presOf" srcId="{556325FD-1DA6-4450-BF77-FB9797A72ECE}" destId="{60BBF7F6-2961-4804-957B-EAE5B9C30919}" srcOrd="0" destOrd="0" presId="urn:microsoft.com/office/officeart/2018/2/layout/IconVerticalSolidList"/>
    <dgm:cxn modelId="{3D3BA870-CD3C-4553-B2F8-D83D03928D30}" srcId="{556325FD-1DA6-4450-BF77-FB9797A72ECE}" destId="{B99E38FA-69B9-458E-955D-A1D13FFEFD8C}" srcOrd="3" destOrd="0" parTransId="{3F3D9291-B41B-4B25-B68B-34FB9C67A36C}" sibTransId="{3931256A-AFA6-4751-A57B-92CB8E8674D8}"/>
    <dgm:cxn modelId="{0AEBB595-C133-445A-B2D6-F89511F322AA}" type="presOf" srcId="{5C76811E-3E60-4513-B419-84C8B8C717F5}" destId="{3FE84D05-1880-435C-9205-8D69FBB81638}" srcOrd="0" destOrd="0" presId="urn:microsoft.com/office/officeart/2018/2/layout/IconVerticalSolidList"/>
    <dgm:cxn modelId="{8769E0B4-9ECD-43F4-90EB-7A135A7E0AD3}" srcId="{556325FD-1DA6-4450-BF77-FB9797A72ECE}" destId="{44B228A9-DE7D-4574-910B-3874E5CF7CD1}" srcOrd="1" destOrd="0" parTransId="{2E761ADA-3F07-4ACD-959F-7846A36BE6F9}" sibTransId="{97EDFB15-96EB-4060-9C85-2E024EDF2212}"/>
    <dgm:cxn modelId="{6A6D50B8-8B3F-49A2-B4C3-C7D23D8A9D0B}" srcId="{556325FD-1DA6-4450-BF77-FB9797A72ECE}" destId="{5C76811E-3E60-4513-B419-84C8B8C717F5}" srcOrd="0" destOrd="0" parTransId="{59294ED3-C75E-4F9E-9A15-27C7B8059C2A}" sibTransId="{43FE7BC8-DC7B-4961-B097-6C4D524E128E}"/>
    <dgm:cxn modelId="{006EDCC7-E208-421A-8306-A2692B11588C}" type="presOf" srcId="{C7A581F4-5A24-4425-B067-EB512C66F2D6}" destId="{E834F98D-0D4B-48CC-9B00-BD70B4C2E6A8}" srcOrd="0" destOrd="0" presId="urn:microsoft.com/office/officeart/2018/2/layout/IconVerticalSolidList"/>
    <dgm:cxn modelId="{DF5F00CD-21D6-4005-B3C9-A6A1F4C6D1C9}" srcId="{556325FD-1DA6-4450-BF77-FB9797A72ECE}" destId="{09131139-99DA-4543-BB21-1BDBBE01F9EB}" srcOrd="4" destOrd="0" parTransId="{FE9ADF23-515C-4505-BB7F-3B5899B1825C}" sibTransId="{23F49DE4-2F20-4626-A93A-289F7DD88B81}"/>
    <dgm:cxn modelId="{C70C1FD5-9CB6-43B5-B661-310015EADA6A}" type="presOf" srcId="{44B228A9-DE7D-4574-910B-3874E5CF7CD1}" destId="{8CF1028D-AE63-48AB-90E6-1C7EB4909628}" srcOrd="0" destOrd="0" presId="urn:microsoft.com/office/officeart/2018/2/layout/IconVerticalSolidList"/>
    <dgm:cxn modelId="{07C277ED-506B-4C26-A432-2BA6C2359C10}" type="presOf" srcId="{09131139-99DA-4543-BB21-1BDBBE01F9EB}" destId="{CC41DA0C-7E2C-4481-84D2-F541DD94533E}" srcOrd="0" destOrd="0" presId="urn:microsoft.com/office/officeart/2018/2/layout/IconVerticalSolidList"/>
    <dgm:cxn modelId="{27FF09F5-7D31-4F1A-B79C-623FA6FB4080}" srcId="{556325FD-1DA6-4450-BF77-FB9797A72ECE}" destId="{C7A581F4-5A24-4425-B067-EB512C66F2D6}" srcOrd="2" destOrd="0" parTransId="{9A5D6E99-ECA1-4D3F-919F-D7E0D720C996}" sibTransId="{0BA8E83E-053F-4DCA-8A12-B08DFFBC2233}"/>
    <dgm:cxn modelId="{3FC1F0BB-286C-43C7-9E6B-11A1E8426EDD}" type="presParOf" srcId="{60BBF7F6-2961-4804-957B-EAE5B9C30919}" destId="{F1E94C9C-5B02-4C3E-A990-1705DF9F1430}" srcOrd="0" destOrd="0" presId="urn:microsoft.com/office/officeart/2018/2/layout/IconVerticalSolidList"/>
    <dgm:cxn modelId="{6CA31DB0-39C3-421A-BF5D-88953C89B1E6}" type="presParOf" srcId="{F1E94C9C-5B02-4C3E-A990-1705DF9F1430}" destId="{D5CFD9C1-97E6-455D-A127-365E20640B8B}" srcOrd="0" destOrd="0" presId="urn:microsoft.com/office/officeart/2018/2/layout/IconVerticalSolidList"/>
    <dgm:cxn modelId="{BBECE969-6720-4C13-B276-03C9D269C677}" type="presParOf" srcId="{F1E94C9C-5B02-4C3E-A990-1705DF9F1430}" destId="{5B2E3D53-BF61-4C66-A904-C6AFB8C0670B}" srcOrd="1" destOrd="0" presId="urn:microsoft.com/office/officeart/2018/2/layout/IconVerticalSolidList"/>
    <dgm:cxn modelId="{27B4146A-7BF2-4436-B06D-19355D78873F}" type="presParOf" srcId="{F1E94C9C-5B02-4C3E-A990-1705DF9F1430}" destId="{A6C78926-E754-44D9-8CCA-37D9DF8A7779}" srcOrd="2" destOrd="0" presId="urn:microsoft.com/office/officeart/2018/2/layout/IconVerticalSolidList"/>
    <dgm:cxn modelId="{3D817B8B-BA4A-4B08-8050-50805DAEB6C1}" type="presParOf" srcId="{F1E94C9C-5B02-4C3E-A990-1705DF9F1430}" destId="{3FE84D05-1880-435C-9205-8D69FBB81638}" srcOrd="3" destOrd="0" presId="urn:microsoft.com/office/officeart/2018/2/layout/IconVerticalSolidList"/>
    <dgm:cxn modelId="{50D6A3A9-685E-4ACC-BEB4-D1E198212047}" type="presParOf" srcId="{60BBF7F6-2961-4804-957B-EAE5B9C30919}" destId="{F15195F2-2119-4138-892F-C3E3DA542DD9}" srcOrd="1" destOrd="0" presId="urn:microsoft.com/office/officeart/2018/2/layout/IconVerticalSolidList"/>
    <dgm:cxn modelId="{07FA6167-B353-4173-B7E8-10F590F6408C}" type="presParOf" srcId="{60BBF7F6-2961-4804-957B-EAE5B9C30919}" destId="{6A16FD0F-862A-45BA-AECC-7F91F3CA8A48}" srcOrd="2" destOrd="0" presId="urn:microsoft.com/office/officeart/2018/2/layout/IconVerticalSolidList"/>
    <dgm:cxn modelId="{9449E028-F663-43EF-A31D-BAE62A2D7A90}" type="presParOf" srcId="{6A16FD0F-862A-45BA-AECC-7F91F3CA8A48}" destId="{95207D2B-5D23-4BF1-BC11-B54DCA5246C5}" srcOrd="0" destOrd="0" presId="urn:microsoft.com/office/officeart/2018/2/layout/IconVerticalSolidList"/>
    <dgm:cxn modelId="{1F2856A1-E780-491B-B087-BDA29ED74E3D}" type="presParOf" srcId="{6A16FD0F-862A-45BA-AECC-7F91F3CA8A48}" destId="{582CA25B-E8C7-482B-9DD8-926573721063}" srcOrd="1" destOrd="0" presId="urn:microsoft.com/office/officeart/2018/2/layout/IconVerticalSolidList"/>
    <dgm:cxn modelId="{172448AE-41F4-4B87-87CE-3CA17C99ADA9}" type="presParOf" srcId="{6A16FD0F-862A-45BA-AECC-7F91F3CA8A48}" destId="{CE66A379-DED5-4D85-A1A8-FB142E52C635}" srcOrd="2" destOrd="0" presId="urn:microsoft.com/office/officeart/2018/2/layout/IconVerticalSolidList"/>
    <dgm:cxn modelId="{96A7D6CE-E13B-4EE7-BA28-8F6462DFAF4F}" type="presParOf" srcId="{6A16FD0F-862A-45BA-AECC-7F91F3CA8A48}" destId="{8CF1028D-AE63-48AB-90E6-1C7EB4909628}" srcOrd="3" destOrd="0" presId="urn:microsoft.com/office/officeart/2018/2/layout/IconVerticalSolidList"/>
    <dgm:cxn modelId="{32FCD600-277D-4D6F-A916-ED30BD92E9E0}" type="presParOf" srcId="{60BBF7F6-2961-4804-957B-EAE5B9C30919}" destId="{C207739F-182F-4AB7-99AB-C94C75064F52}" srcOrd="3" destOrd="0" presId="urn:microsoft.com/office/officeart/2018/2/layout/IconVerticalSolidList"/>
    <dgm:cxn modelId="{3271E8C1-E86B-407E-8C9E-E0983DF5AD59}" type="presParOf" srcId="{60BBF7F6-2961-4804-957B-EAE5B9C30919}" destId="{28135C3F-2239-4DE3-83D8-75B774449438}" srcOrd="4" destOrd="0" presId="urn:microsoft.com/office/officeart/2018/2/layout/IconVerticalSolidList"/>
    <dgm:cxn modelId="{220F5CAF-F799-4743-8643-6B3A803AED69}" type="presParOf" srcId="{28135C3F-2239-4DE3-83D8-75B774449438}" destId="{CAA7171B-D2FF-4A9F-B228-860ED6A43F3B}" srcOrd="0" destOrd="0" presId="urn:microsoft.com/office/officeart/2018/2/layout/IconVerticalSolidList"/>
    <dgm:cxn modelId="{B11FEAA2-B574-4B18-9043-5CA363D9D4EF}" type="presParOf" srcId="{28135C3F-2239-4DE3-83D8-75B774449438}" destId="{BAE2A07F-25D9-499A-B8DE-CB1CC088F414}" srcOrd="1" destOrd="0" presId="urn:microsoft.com/office/officeart/2018/2/layout/IconVerticalSolidList"/>
    <dgm:cxn modelId="{7EF95650-0BFB-4FFE-ADFB-FD1C6260980D}" type="presParOf" srcId="{28135C3F-2239-4DE3-83D8-75B774449438}" destId="{0A0D3BF6-108E-4EAB-843E-E803F3DD23E0}" srcOrd="2" destOrd="0" presId="urn:microsoft.com/office/officeart/2018/2/layout/IconVerticalSolidList"/>
    <dgm:cxn modelId="{49FF5D40-9385-48A2-BB16-74F352CA2B32}" type="presParOf" srcId="{28135C3F-2239-4DE3-83D8-75B774449438}" destId="{E834F98D-0D4B-48CC-9B00-BD70B4C2E6A8}" srcOrd="3" destOrd="0" presId="urn:microsoft.com/office/officeart/2018/2/layout/IconVerticalSolidList"/>
    <dgm:cxn modelId="{FFF572F7-F296-4CAA-87FD-056DCB9A0DD7}" type="presParOf" srcId="{60BBF7F6-2961-4804-957B-EAE5B9C30919}" destId="{24F904B2-E770-49FA-BA01-0902E2E80D3B}" srcOrd="5" destOrd="0" presId="urn:microsoft.com/office/officeart/2018/2/layout/IconVerticalSolidList"/>
    <dgm:cxn modelId="{0803D569-0373-4EF2-888F-D4EA0A2CAEDD}" type="presParOf" srcId="{60BBF7F6-2961-4804-957B-EAE5B9C30919}" destId="{F3B0FBBB-FA04-4D9E-9333-9F335FC4D904}" srcOrd="6" destOrd="0" presId="urn:microsoft.com/office/officeart/2018/2/layout/IconVerticalSolidList"/>
    <dgm:cxn modelId="{D6C6A943-702F-46A2-A668-149051C4C37E}" type="presParOf" srcId="{F3B0FBBB-FA04-4D9E-9333-9F335FC4D904}" destId="{6C46D568-043E-4F8B-B0A9-F1FB946451FA}" srcOrd="0" destOrd="0" presId="urn:microsoft.com/office/officeart/2018/2/layout/IconVerticalSolidList"/>
    <dgm:cxn modelId="{757C068D-F37C-462E-9410-CAB3623A289C}" type="presParOf" srcId="{F3B0FBBB-FA04-4D9E-9333-9F335FC4D904}" destId="{F263DE25-EE07-4D4D-BA15-4D9E1654F389}" srcOrd="1" destOrd="0" presId="urn:microsoft.com/office/officeart/2018/2/layout/IconVerticalSolidList"/>
    <dgm:cxn modelId="{62B71620-6B1F-4B2D-96AB-C782E3A9AD54}" type="presParOf" srcId="{F3B0FBBB-FA04-4D9E-9333-9F335FC4D904}" destId="{C8A89774-61DC-453A-BD2B-123911F2B10C}" srcOrd="2" destOrd="0" presId="urn:microsoft.com/office/officeart/2018/2/layout/IconVerticalSolidList"/>
    <dgm:cxn modelId="{FB7263DE-E728-4054-A137-0A89AAE55CD0}" type="presParOf" srcId="{F3B0FBBB-FA04-4D9E-9333-9F335FC4D904}" destId="{39865F92-9356-49A1-879B-3D7B6C114BF9}" srcOrd="3" destOrd="0" presId="urn:microsoft.com/office/officeart/2018/2/layout/IconVerticalSolidList"/>
    <dgm:cxn modelId="{181BB35C-15AE-4180-B504-DDC6A78878A7}" type="presParOf" srcId="{60BBF7F6-2961-4804-957B-EAE5B9C30919}" destId="{6A9E314A-21AB-47AA-A0ED-784A68644A1A}" srcOrd="7" destOrd="0" presId="urn:microsoft.com/office/officeart/2018/2/layout/IconVerticalSolidList"/>
    <dgm:cxn modelId="{A6090C3E-5B2C-4BD6-BA60-4455BD9BB345}" type="presParOf" srcId="{60BBF7F6-2961-4804-957B-EAE5B9C30919}" destId="{647D4613-B40B-40D8-B439-8675931E53E1}" srcOrd="8" destOrd="0" presId="urn:microsoft.com/office/officeart/2018/2/layout/IconVerticalSolidList"/>
    <dgm:cxn modelId="{0B770A31-0867-46A8-A32A-5EDFCABB7042}" type="presParOf" srcId="{647D4613-B40B-40D8-B439-8675931E53E1}" destId="{B51FB014-DF43-4804-84F1-F7FF56D53E75}" srcOrd="0" destOrd="0" presId="urn:microsoft.com/office/officeart/2018/2/layout/IconVerticalSolidList"/>
    <dgm:cxn modelId="{40E8FCC5-4F47-4AB9-8426-1B3092380943}" type="presParOf" srcId="{647D4613-B40B-40D8-B439-8675931E53E1}" destId="{F42CB9B7-653A-4D4A-A99D-EAA963441629}" srcOrd="1" destOrd="0" presId="urn:microsoft.com/office/officeart/2018/2/layout/IconVerticalSolidList"/>
    <dgm:cxn modelId="{932DB13B-7CFE-4797-B59F-514F2583244B}" type="presParOf" srcId="{647D4613-B40B-40D8-B439-8675931E53E1}" destId="{A2567250-78F4-4DF6-BC42-B32B557030C4}" srcOrd="2" destOrd="0" presId="urn:microsoft.com/office/officeart/2018/2/layout/IconVerticalSolidList"/>
    <dgm:cxn modelId="{4E73C992-84FB-4BFA-9B75-C0467940402A}" type="presParOf" srcId="{647D4613-B40B-40D8-B439-8675931E53E1}" destId="{CC41DA0C-7E2C-4481-84D2-F541DD94533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CFD9C1-97E6-455D-A127-365E20640B8B}">
      <dsp:nvSpPr>
        <dsp:cNvPr id="0" name=""/>
        <dsp:cNvSpPr/>
      </dsp:nvSpPr>
      <dsp:spPr>
        <a:xfrm>
          <a:off x="0" y="4606"/>
          <a:ext cx="6588691" cy="98125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2E3D53-BF61-4C66-A904-C6AFB8C0670B}">
      <dsp:nvSpPr>
        <dsp:cNvPr id="0" name=""/>
        <dsp:cNvSpPr/>
      </dsp:nvSpPr>
      <dsp:spPr>
        <a:xfrm>
          <a:off x="296829" y="225389"/>
          <a:ext cx="539690" cy="53969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E84D05-1880-435C-9205-8D69FBB81638}">
      <dsp:nvSpPr>
        <dsp:cNvPr id="0" name=""/>
        <dsp:cNvSpPr/>
      </dsp:nvSpPr>
      <dsp:spPr>
        <a:xfrm>
          <a:off x="1133349" y="4606"/>
          <a:ext cx="5455341" cy="9812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849" tIns="103849" rIns="103849" bIns="10384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Very Early stage for market ready </a:t>
          </a:r>
          <a:endParaRPr lang="en-US" sz="1900" kern="1200"/>
        </a:p>
      </dsp:txBody>
      <dsp:txXfrm>
        <a:off x="1133349" y="4606"/>
        <a:ext cx="5455341" cy="981254"/>
      </dsp:txXfrm>
    </dsp:sp>
    <dsp:sp modelId="{95207D2B-5D23-4BF1-BC11-B54DCA5246C5}">
      <dsp:nvSpPr>
        <dsp:cNvPr id="0" name=""/>
        <dsp:cNvSpPr/>
      </dsp:nvSpPr>
      <dsp:spPr>
        <a:xfrm>
          <a:off x="0" y="1231175"/>
          <a:ext cx="6588691" cy="98125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2CA25B-E8C7-482B-9DD8-926573721063}">
      <dsp:nvSpPr>
        <dsp:cNvPr id="0" name=""/>
        <dsp:cNvSpPr/>
      </dsp:nvSpPr>
      <dsp:spPr>
        <a:xfrm>
          <a:off x="296829" y="1451957"/>
          <a:ext cx="539690" cy="53969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F1028D-AE63-48AB-90E6-1C7EB4909628}">
      <dsp:nvSpPr>
        <dsp:cNvPr id="0" name=""/>
        <dsp:cNvSpPr/>
      </dsp:nvSpPr>
      <dsp:spPr>
        <a:xfrm>
          <a:off x="1133349" y="1231175"/>
          <a:ext cx="5455341" cy="9812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849" tIns="103849" rIns="103849" bIns="10384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Weather data is unique and require new methodologies to be developed</a:t>
          </a:r>
          <a:endParaRPr lang="en-US" sz="1900" kern="1200" dirty="0"/>
        </a:p>
      </dsp:txBody>
      <dsp:txXfrm>
        <a:off x="1133349" y="1231175"/>
        <a:ext cx="5455341" cy="981254"/>
      </dsp:txXfrm>
    </dsp:sp>
    <dsp:sp modelId="{CAA7171B-D2FF-4A9F-B228-860ED6A43F3B}">
      <dsp:nvSpPr>
        <dsp:cNvPr id="0" name=""/>
        <dsp:cNvSpPr/>
      </dsp:nvSpPr>
      <dsp:spPr>
        <a:xfrm>
          <a:off x="0" y="2457744"/>
          <a:ext cx="6588691" cy="98125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E2A07F-25D9-499A-B8DE-CB1CC088F414}">
      <dsp:nvSpPr>
        <dsp:cNvPr id="0" name=""/>
        <dsp:cNvSpPr/>
      </dsp:nvSpPr>
      <dsp:spPr>
        <a:xfrm>
          <a:off x="296829" y="2678526"/>
          <a:ext cx="539690" cy="53969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34F98D-0D4B-48CC-9B00-BD70B4C2E6A8}">
      <dsp:nvSpPr>
        <dsp:cNvPr id="0" name=""/>
        <dsp:cNvSpPr/>
      </dsp:nvSpPr>
      <dsp:spPr>
        <a:xfrm>
          <a:off x="1133349" y="2457744"/>
          <a:ext cx="5455341" cy="9812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849" tIns="103849" rIns="103849" bIns="10384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At the moment it can be applied effectively to understand meteorological phenomenon</a:t>
          </a:r>
          <a:endParaRPr lang="en-US" sz="1900" kern="1200" dirty="0"/>
        </a:p>
      </dsp:txBody>
      <dsp:txXfrm>
        <a:off x="1133349" y="2457744"/>
        <a:ext cx="5455341" cy="981254"/>
      </dsp:txXfrm>
    </dsp:sp>
    <dsp:sp modelId="{6C46D568-043E-4F8B-B0A9-F1FB946451FA}">
      <dsp:nvSpPr>
        <dsp:cNvPr id="0" name=""/>
        <dsp:cNvSpPr/>
      </dsp:nvSpPr>
      <dsp:spPr>
        <a:xfrm>
          <a:off x="0" y="3684312"/>
          <a:ext cx="6588691" cy="98125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63DE25-EE07-4D4D-BA15-4D9E1654F389}">
      <dsp:nvSpPr>
        <dsp:cNvPr id="0" name=""/>
        <dsp:cNvSpPr/>
      </dsp:nvSpPr>
      <dsp:spPr>
        <a:xfrm>
          <a:off x="296829" y="3905095"/>
          <a:ext cx="539690" cy="53969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865F92-9356-49A1-879B-3D7B6C114BF9}">
      <dsp:nvSpPr>
        <dsp:cNvPr id="0" name=""/>
        <dsp:cNvSpPr/>
      </dsp:nvSpPr>
      <dsp:spPr>
        <a:xfrm>
          <a:off x="1133349" y="3684312"/>
          <a:ext cx="5455341" cy="9812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849" tIns="103849" rIns="103849" bIns="10384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It has number of associated challenges</a:t>
          </a:r>
          <a:endParaRPr lang="en-US" sz="1900" kern="1200"/>
        </a:p>
      </dsp:txBody>
      <dsp:txXfrm>
        <a:off x="1133349" y="3684312"/>
        <a:ext cx="5455341" cy="981254"/>
      </dsp:txXfrm>
    </dsp:sp>
    <dsp:sp modelId="{B51FB014-DF43-4804-84F1-F7FF56D53E75}">
      <dsp:nvSpPr>
        <dsp:cNvPr id="0" name=""/>
        <dsp:cNvSpPr/>
      </dsp:nvSpPr>
      <dsp:spPr>
        <a:xfrm>
          <a:off x="0" y="4910881"/>
          <a:ext cx="6588691" cy="981254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2CB9B7-653A-4D4A-A99D-EAA963441629}">
      <dsp:nvSpPr>
        <dsp:cNvPr id="0" name=""/>
        <dsp:cNvSpPr/>
      </dsp:nvSpPr>
      <dsp:spPr>
        <a:xfrm>
          <a:off x="296829" y="5131663"/>
          <a:ext cx="539690" cy="53969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41DA0C-7E2C-4481-84D2-F541DD94533E}">
      <dsp:nvSpPr>
        <dsp:cNvPr id="0" name=""/>
        <dsp:cNvSpPr/>
      </dsp:nvSpPr>
      <dsp:spPr>
        <a:xfrm>
          <a:off x="1133349" y="4910881"/>
          <a:ext cx="5455341" cy="9812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849" tIns="103849" rIns="103849" bIns="10384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Currently it is very open to collaboration</a:t>
          </a:r>
          <a:endParaRPr lang="en-US" sz="1900" kern="1200" dirty="0"/>
        </a:p>
      </dsp:txBody>
      <dsp:txXfrm>
        <a:off x="1133349" y="4910881"/>
        <a:ext cx="5455341" cy="9812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7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7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7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7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7.xm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7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7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7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7.xm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7.xml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7.xml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7.xml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7.xml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7.xml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7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7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65BEF-6C89-4AA1-9F8B-65E3DD2658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42C75C-87ED-44F4-BEBD-2432E9A5B3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25420-074B-4515-9453-15BAC09E0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8F01D-A4D2-4ED6-BCD3-14BADDA4AC76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43074-F2D2-4BDC-B4B3-796FC2159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B3C7A-3FEB-4DA7-8562-37640D843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634E5-17CE-4863-9549-568241DB014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6893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D14E5-0F30-4E65-8A69-8D5010CBA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7BD2B-D386-490C-82B8-C864EA876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928BF7-D74D-48AE-8772-E5FB6F57B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8F01D-A4D2-4ED6-BCD3-14BADDA4AC76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CBE646-72C5-48CC-9293-774AF7808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EDB8B-E964-496A-8CF0-0B99D1B57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634E5-17CE-4863-9549-568241DB014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339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7B54F-DD15-48E9-A519-594633E15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F0640A-4BCC-406E-9E86-3420EB44F0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EDAD46-485D-4E9B-9D9F-FC5191302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8F01D-A4D2-4ED6-BCD3-14BADDA4AC76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14940B-9232-472C-B913-9F9C2271E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AD5F63-5A87-44E5-B78F-9A6FF016A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634E5-17CE-4863-9549-568241DB014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193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D89CE-EC73-4655-AFA5-7B06FB12F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E1D88-0710-41D7-9F09-DAED5AE2FC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7E7407-D75D-44FA-91D9-1BD430BE47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1ECC6F-4D56-4F5A-87ED-6E2433E26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8F01D-A4D2-4ED6-BCD3-14BADDA4AC76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88E30F-65F8-43DE-A236-C3E5FCAE1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42FF11-4605-4C37-8D35-8F07DB28B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634E5-17CE-4863-9549-568241DB014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6332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271C7-135E-4933-9FF6-3C77FB555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5D5475-9066-49FF-99FF-94948AF00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A38C4B-A2E2-46F2-969D-3DEE11A5AF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3364A3-52C4-4CAC-AC59-0A66F07C06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D11FA8-2F73-4621-ACB1-43FC445889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EF469B-C585-41EF-B649-F7B78C5A7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8F01D-A4D2-4ED6-BCD3-14BADDA4AC76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AE3AD2-D78D-416C-8058-78C9B8DC9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C94FCA-4289-40A5-9749-F167699E5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634E5-17CE-4863-9549-568241DB014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70794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A4A2B-0AF4-4F31-BB5D-E66534839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C2B8FD-CD09-4EAB-862D-C07F6A24C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8F01D-A4D2-4ED6-BCD3-14BADDA4AC76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76D913-26E3-437A-A74C-255DF9C72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E5D691-51C8-44BF-B503-56ECF6DBD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634E5-17CE-4863-9549-568241DB014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78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CDED71-B28E-46AA-9F0B-807D6F671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8F01D-A4D2-4ED6-BCD3-14BADDA4AC76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633DCD-04A3-44DB-98FB-D001CB631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442113-932C-4699-9170-B5D6D342D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634E5-17CE-4863-9549-568241DB014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2091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03F4B-4BD9-448A-BA4C-3DB762EB9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50BCF-F487-414B-89DA-BBB4687197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EE3EA1-A221-4B68-BC0D-D7F61859EC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87B9A3-BAA0-4D2C-87D4-E8748D498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8F01D-A4D2-4ED6-BCD3-14BADDA4AC76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167126-46D0-4C82-9F4D-CF4BB712B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D8B6DA-A2AA-410F-ACDE-94924BF8E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634E5-17CE-4863-9549-568241DB014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1051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522E6-74E8-41A3-8918-AE43B12C9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E5CB28-4FB5-4AF7-B4DD-6B1DC1E38B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A2BF47-CCF3-4E98-9467-3E9F6D5C5D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9181EC-A79E-4DF3-A342-5DC4DEED6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8F01D-A4D2-4ED6-BCD3-14BADDA4AC76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42C37B-DA2F-4ABE-83AD-53255A868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E731AD-EEF0-4BBF-81FE-75CDB3B99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634E5-17CE-4863-9549-568241DB014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5029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EFEF2-1B62-419B-BB6D-C28CF4DC5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4DA886-8291-40D9-BC8E-1266E73698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A2A06-9D4C-4980-B7ED-1A238F30E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8F01D-A4D2-4ED6-BCD3-14BADDA4AC76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ABCD0-72DA-4A3D-98C7-71EC96D4B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7897FE-9CA2-411F-BB62-E65B314AC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634E5-17CE-4863-9549-568241DB014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9695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88F127-3002-420D-908C-69AD81E1C0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9DEAA9-39ED-4078-818C-15BFB64105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9BBFE9-A8AE-430C-878C-A9F69B3AF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8F01D-A4D2-4ED6-BCD3-14BADDA4AC76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3432EF-C11F-4E4C-84B4-1F230594C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17CD71-3F71-431C-9662-13571F4D5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634E5-17CE-4863-9549-568241DB014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086873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80023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84312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72533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0032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88840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6466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22059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99137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90653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99941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71616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49356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325170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48588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562075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785230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020694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225446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07034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005118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453814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0281142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192977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8004820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725479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433785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251054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724221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930977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77456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838936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437758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410542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254701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167498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153747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521791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461209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1786340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451466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8343998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006950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426462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800011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448008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832557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555852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059776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978422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935150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8648033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542081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447028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861045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395469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8F01D-A4D2-4ED6-BCD3-14BADDA4AC76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634E5-17CE-4863-9549-568241DB014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553136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111585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148758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455043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972202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648838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61166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5374972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9820819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54989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576279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7800162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67516497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2817406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4053339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4052830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8F01D-A4D2-4ED6-BCD3-14BADDA4AC76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634E5-17CE-4863-9549-568241DB0147}" type="slidenum">
              <a:rPr lang="de-DE" smtClean="0"/>
              <a:t>‹#›</a:t>
            </a:fld>
            <a:endParaRPr lang="de-DE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1953104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8F01D-A4D2-4ED6-BCD3-14BADDA4AC76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634E5-17CE-4863-9549-568241DB0147}" type="slidenum">
              <a:rPr lang="de-DE" smtClean="0"/>
              <a:t>‹#›</a:t>
            </a:fld>
            <a:endParaRPr lang="de-DE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3796133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4457634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8F01D-A4D2-4ED6-BCD3-14BADDA4AC76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634E5-17CE-4863-9549-568241DB0147}" type="slidenum">
              <a:rPr lang="de-DE" smtClean="0"/>
              <a:t>‹#›</a:t>
            </a:fld>
            <a:endParaRPr lang="de-DE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1912372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8F01D-A4D2-4ED6-BCD3-14BADDA4AC76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634E5-17CE-4863-9549-568241DB0147}" type="slidenum">
              <a:rPr lang="de-DE" smtClean="0"/>
              <a:t>‹#›</a:t>
            </a:fld>
            <a:endParaRPr lang="de-DE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2645144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6297341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1994686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4366456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56678369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0599005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6340951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2467826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1698841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0103244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5445910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0181100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8117703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8F01D-A4D2-4ED6-BCD3-14BADDA4AC76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707634E5-17CE-4863-9549-568241DB014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4211036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8F01D-A4D2-4ED6-BCD3-14BADDA4AC76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707634E5-17CE-4863-9549-568241DB0147}" type="slidenum">
              <a:rPr lang="de-DE" smtClean="0"/>
              <a:t>‹#›</a:t>
            </a:fld>
            <a:endParaRPr lang="de-DE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81233386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8F01D-A4D2-4ED6-BCD3-14BADDA4AC76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707634E5-17CE-4863-9549-568241DB014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1350603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8F01D-A4D2-4ED6-BCD3-14BADDA4AC76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634E5-17CE-4863-9549-568241DB014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7156775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8F01D-A4D2-4ED6-BCD3-14BADDA4AC76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634E5-17CE-4863-9549-568241DB014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536692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95983330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5331081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9C68F01D-A4D2-4ED6-BCD3-14BADDA4AC76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634E5-17CE-4863-9549-568241DB0147}" type="slidenum">
              <a:rPr lang="de-DE" smtClean="0"/>
              <a:t>‹#›</a:t>
            </a:fld>
            <a:endParaRPr lang="de-DE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9435223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8F01D-A4D2-4ED6-BCD3-14BADDA4AC76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634E5-17CE-4863-9549-568241DB014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9213460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8F01D-A4D2-4ED6-BCD3-14BADDA4AC76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634E5-17CE-4863-9549-568241DB0147}" type="slidenum">
              <a:rPr lang="de-DE" smtClean="0"/>
              <a:t>‹#›</a:t>
            </a:fld>
            <a:endParaRPr lang="de-DE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5011078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8F01D-A4D2-4ED6-BCD3-14BADDA4AC76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634E5-17CE-4863-9549-568241DB014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604459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8F01D-A4D2-4ED6-BCD3-14BADDA4AC76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634E5-17CE-4863-9549-568241DB014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8551320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8F01D-A4D2-4ED6-BCD3-14BADDA4AC76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634E5-17CE-4863-9549-568241DB014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2173204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8F01D-A4D2-4ED6-BCD3-14BADDA4AC76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634E5-17CE-4863-9549-568241DB014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0850606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8F01D-A4D2-4ED6-BCD3-14BADDA4AC76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634E5-17CE-4863-9549-568241DB014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9662339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8F01D-A4D2-4ED6-BCD3-14BADDA4AC76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634E5-17CE-4863-9549-568241DB0147}" type="slidenum">
              <a:rPr lang="de-DE" smtClean="0"/>
              <a:t>‹#›</a:t>
            </a:fld>
            <a:endParaRPr lang="de-DE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4834816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8F01D-A4D2-4ED6-BCD3-14BADDA4AC76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634E5-17CE-4863-9549-568241DB014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1968214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8F01D-A4D2-4ED6-BCD3-14BADDA4AC76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634E5-17CE-4863-9549-568241DB0147}" type="slidenum">
              <a:rPr lang="de-DE" smtClean="0"/>
              <a:t>‹#›</a:t>
            </a:fld>
            <a:endParaRPr lang="de-DE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8960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41.xml"/><Relationship Id="rId21" Type="http://schemas.openxmlformats.org/officeDocument/2006/relationships/image" Target="../media/image5.png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5.xml"/><Relationship Id="rId2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54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48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52.xml"/><Relationship Id="rId22" Type="http://schemas.openxmlformats.org/officeDocument/2006/relationships/image" Target="../media/image6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slideLayout" Target="../slideLayouts/slideLayout68.xml"/><Relationship Id="rId18" Type="http://schemas.openxmlformats.org/officeDocument/2006/relationships/theme" Target="../theme/theme5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7.xml"/><Relationship Id="rId17" Type="http://schemas.openxmlformats.org/officeDocument/2006/relationships/slideLayout" Target="../slideLayouts/slideLayout72.xml"/><Relationship Id="rId2" Type="http://schemas.openxmlformats.org/officeDocument/2006/relationships/slideLayout" Target="../slideLayouts/slideLayout57.xml"/><Relationship Id="rId16" Type="http://schemas.openxmlformats.org/officeDocument/2006/relationships/slideLayout" Target="../slideLayouts/slideLayout71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5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65.xml"/><Relationship Id="rId19" Type="http://schemas.openxmlformats.org/officeDocument/2006/relationships/image" Target="../media/image2.jpeg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slideLayout" Target="../slideLayouts/slideLayout69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0.xml"/><Relationship Id="rId13" Type="http://schemas.openxmlformats.org/officeDocument/2006/relationships/slideLayout" Target="../slideLayouts/slideLayout85.xml"/><Relationship Id="rId18" Type="http://schemas.openxmlformats.org/officeDocument/2006/relationships/theme" Target="../theme/theme6.xml"/><Relationship Id="rId3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9.xml"/><Relationship Id="rId12" Type="http://schemas.openxmlformats.org/officeDocument/2006/relationships/slideLayout" Target="../slideLayouts/slideLayout84.xml"/><Relationship Id="rId17" Type="http://schemas.openxmlformats.org/officeDocument/2006/relationships/slideLayout" Target="../slideLayouts/slideLayout89.xml"/><Relationship Id="rId2" Type="http://schemas.openxmlformats.org/officeDocument/2006/relationships/slideLayout" Target="../slideLayouts/slideLayout74.xml"/><Relationship Id="rId16" Type="http://schemas.openxmlformats.org/officeDocument/2006/relationships/slideLayout" Target="../slideLayouts/slideLayout88.xml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83.xml"/><Relationship Id="rId5" Type="http://schemas.openxmlformats.org/officeDocument/2006/relationships/slideLayout" Target="../slideLayouts/slideLayout77.xml"/><Relationship Id="rId15" Type="http://schemas.openxmlformats.org/officeDocument/2006/relationships/slideLayout" Target="../slideLayouts/slideLayout87.xml"/><Relationship Id="rId10" Type="http://schemas.openxmlformats.org/officeDocument/2006/relationships/slideLayout" Target="../slideLayouts/slideLayout82.xml"/><Relationship Id="rId19" Type="http://schemas.openxmlformats.org/officeDocument/2006/relationships/image" Target="../media/image9.png"/><Relationship Id="rId4" Type="http://schemas.openxmlformats.org/officeDocument/2006/relationships/slideLayout" Target="../slideLayouts/slideLayout76.xml"/><Relationship Id="rId9" Type="http://schemas.openxmlformats.org/officeDocument/2006/relationships/slideLayout" Target="../slideLayouts/slideLayout81.xml"/><Relationship Id="rId14" Type="http://schemas.openxmlformats.org/officeDocument/2006/relationships/slideLayout" Target="../slideLayouts/slideLayout8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7.xml"/><Relationship Id="rId13" Type="http://schemas.openxmlformats.org/officeDocument/2006/relationships/slideLayout" Target="../slideLayouts/slideLayout102.xml"/><Relationship Id="rId18" Type="http://schemas.openxmlformats.org/officeDocument/2006/relationships/theme" Target="../theme/theme7.xml"/><Relationship Id="rId3" Type="http://schemas.openxmlformats.org/officeDocument/2006/relationships/slideLayout" Target="../slideLayouts/slideLayout92.xml"/><Relationship Id="rId7" Type="http://schemas.openxmlformats.org/officeDocument/2006/relationships/slideLayout" Target="../slideLayouts/slideLayout96.xml"/><Relationship Id="rId12" Type="http://schemas.openxmlformats.org/officeDocument/2006/relationships/slideLayout" Target="../slideLayouts/slideLayout101.xml"/><Relationship Id="rId17" Type="http://schemas.openxmlformats.org/officeDocument/2006/relationships/slideLayout" Target="../slideLayouts/slideLayout106.xml"/><Relationship Id="rId2" Type="http://schemas.openxmlformats.org/officeDocument/2006/relationships/slideLayout" Target="../slideLayouts/slideLayout91.xml"/><Relationship Id="rId16" Type="http://schemas.openxmlformats.org/officeDocument/2006/relationships/slideLayout" Target="../slideLayouts/slideLayout105.xml"/><Relationship Id="rId1" Type="http://schemas.openxmlformats.org/officeDocument/2006/relationships/slideLayout" Target="../slideLayouts/slideLayout90.xml"/><Relationship Id="rId6" Type="http://schemas.openxmlformats.org/officeDocument/2006/relationships/slideLayout" Target="../slideLayouts/slideLayout95.xml"/><Relationship Id="rId11" Type="http://schemas.openxmlformats.org/officeDocument/2006/relationships/slideLayout" Target="../slideLayouts/slideLayout100.xml"/><Relationship Id="rId5" Type="http://schemas.openxmlformats.org/officeDocument/2006/relationships/slideLayout" Target="../slideLayouts/slideLayout94.xml"/><Relationship Id="rId15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99.xml"/><Relationship Id="rId19" Type="http://schemas.openxmlformats.org/officeDocument/2006/relationships/image" Target="../media/image13.png"/><Relationship Id="rId4" Type="http://schemas.openxmlformats.org/officeDocument/2006/relationships/slideLayout" Target="../slideLayouts/slideLayout93.xml"/><Relationship Id="rId9" Type="http://schemas.openxmlformats.org/officeDocument/2006/relationships/slideLayout" Target="../slideLayouts/slideLayout98.xml"/><Relationship Id="rId14" Type="http://schemas.openxmlformats.org/officeDocument/2006/relationships/slideLayout" Target="../slideLayouts/slideLayout103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4.xml"/><Relationship Id="rId3" Type="http://schemas.openxmlformats.org/officeDocument/2006/relationships/slideLayout" Target="../slideLayouts/slideLayout109.xml"/><Relationship Id="rId7" Type="http://schemas.openxmlformats.org/officeDocument/2006/relationships/slideLayout" Target="../slideLayouts/slideLayout113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108.xml"/><Relationship Id="rId1" Type="http://schemas.openxmlformats.org/officeDocument/2006/relationships/slideLayout" Target="../slideLayouts/slideLayout107.xml"/><Relationship Id="rId6" Type="http://schemas.openxmlformats.org/officeDocument/2006/relationships/slideLayout" Target="../slideLayouts/slideLayout112.xml"/><Relationship Id="rId11" Type="http://schemas.openxmlformats.org/officeDocument/2006/relationships/slideLayout" Target="../slideLayouts/slideLayout117.xml"/><Relationship Id="rId5" Type="http://schemas.openxmlformats.org/officeDocument/2006/relationships/slideLayout" Target="../slideLayouts/slideLayout111.xml"/><Relationship Id="rId10" Type="http://schemas.openxmlformats.org/officeDocument/2006/relationships/slideLayout" Target="../slideLayouts/slideLayout116.xml"/><Relationship Id="rId4" Type="http://schemas.openxmlformats.org/officeDocument/2006/relationships/slideLayout" Target="../slideLayouts/slideLayout110.xml"/><Relationship Id="rId9" Type="http://schemas.openxmlformats.org/officeDocument/2006/relationships/slideLayout" Target="../slideLayouts/slideLayout1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19C6F8-B1E4-4B12-974C-A15753449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096C1F-238C-48D8-92A0-7CF62750D1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5803F-8EE2-456F-B4C0-08AD53D741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68F01D-A4D2-4ED6-BCD3-14BADDA4AC76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388A8F-2654-4120-899A-CB075E4B26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AF66A-F3F8-4819-A67E-06121C6ADD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7634E5-17CE-4863-9549-568241DB014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3773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D17B6C4-2635-4266-8518-3823CD4595C3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5322FB4-1C1F-41A4-80F1-2ABB89AE76D0}" type="slidenum">
              <a:rPr lang="de-DE" smtClean="0"/>
              <a:t>‹#›</a:t>
            </a:fld>
            <a:endParaRPr lang="de-DE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6044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68F01D-A4D2-4ED6-BCD3-14BADDA4AC76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707634E5-17CE-4863-9549-568241DB014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8432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C68F01D-A4D2-4ED6-BCD3-14BADDA4AC76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7634E5-17CE-4863-9549-568241DB014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62612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9C68F01D-A4D2-4ED6-BCD3-14BADDA4AC76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de-DE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707634E5-17CE-4863-9549-568241DB014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7127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  <p:sldLayoutId id="214748374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C68F01D-A4D2-4ED6-BCD3-14BADDA4AC76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07634E5-17CE-4863-9549-568241DB014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6146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57" r:id="rId14"/>
    <p:sldLayoutId id="2147483758" r:id="rId15"/>
    <p:sldLayoutId id="2147483759" r:id="rId16"/>
    <p:sldLayoutId id="2147483760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68F01D-A4D2-4ED6-BCD3-14BADDA4AC76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7634E5-17CE-4863-9549-568241DB014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95076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  <p:sldLayoutId id="2147483774" r:id="rId13"/>
    <p:sldLayoutId id="2147483775" r:id="rId14"/>
    <p:sldLayoutId id="2147483776" r:id="rId15"/>
    <p:sldLayoutId id="2147483777" r:id="rId16"/>
    <p:sldLayoutId id="2147483778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C68F01D-A4D2-4ED6-BCD3-14BADDA4AC76}" type="datetimeFigureOut">
              <a:rPr lang="de-DE" smtClean="0"/>
              <a:t>10.02.2022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707634E5-17CE-4863-9549-568241DB0147}" type="slidenum">
              <a:rPr lang="de-DE" smtClean="0"/>
              <a:t>‹#›</a:t>
            </a:fld>
            <a:endParaRPr lang="de-DE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9266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1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0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9BEEF-6F51-4822-8F20-FFF5CF59D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8064"/>
            <a:ext cx="10515600" cy="2565561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Evaluation of Weather Forecast with Deep Learning</a:t>
            </a:r>
            <a:br>
              <a:rPr lang="en-US" sz="4800" dirty="0"/>
            </a:br>
            <a:r>
              <a:rPr lang="en-US" sz="4800" dirty="0"/>
              <a:t> </a:t>
            </a:r>
            <a:br>
              <a:rPr lang="en-US" sz="2800" dirty="0"/>
            </a:br>
            <a:endParaRPr lang="de-D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A5226-D041-462D-B455-9F4F4F420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1696" y="3429000"/>
            <a:ext cx="6841475" cy="2200275"/>
          </a:xfrm>
        </p:spPr>
        <p:txBody>
          <a:bodyPr/>
          <a:lstStyle/>
          <a:p>
            <a:pPr marL="0" indent="0" algn="r">
              <a:buNone/>
            </a:pPr>
            <a:r>
              <a:rPr lang="en-US" dirty="0"/>
              <a:t>Muhammad Moaz Amin – Winter Semester 2021</a:t>
            </a:r>
          </a:p>
          <a:p>
            <a:pPr marL="0" indent="0" algn="r">
              <a:buNone/>
            </a:pPr>
            <a:r>
              <a:rPr lang="en-US" dirty="0"/>
              <a:t>Deep Learning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78713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8CD25866-F15D-40A4-AEC5-47C044637A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8" name="Freeform 11">
              <a:extLst>
                <a:ext uri="{FF2B5EF4-FFF2-40B4-BE49-F238E27FC236}">
                  <a16:creationId xmlns:a16="http://schemas.microsoft.com/office/drawing/2014/main" id="{DCB8E995-36E8-40B6-82D4-F52DE2987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56" name="Freeform 12">
              <a:extLst>
                <a:ext uri="{FF2B5EF4-FFF2-40B4-BE49-F238E27FC236}">
                  <a16:creationId xmlns:a16="http://schemas.microsoft.com/office/drawing/2014/main" id="{DF54AEB5-68B5-46AE-B8F0-EEBE5DFED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0" name="Freeform 13">
              <a:extLst>
                <a:ext uri="{FF2B5EF4-FFF2-40B4-BE49-F238E27FC236}">
                  <a16:creationId xmlns:a16="http://schemas.microsoft.com/office/drawing/2014/main" id="{E3F708CB-F094-4EE7-8AD5-A462F1DF8B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4">
              <a:extLst>
                <a:ext uri="{FF2B5EF4-FFF2-40B4-BE49-F238E27FC236}">
                  <a16:creationId xmlns:a16="http://schemas.microsoft.com/office/drawing/2014/main" id="{ECFCFB22-E8B5-4FAC-A354-E7E0CE6F2B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2" name="Freeform 15">
              <a:extLst>
                <a:ext uri="{FF2B5EF4-FFF2-40B4-BE49-F238E27FC236}">
                  <a16:creationId xmlns:a16="http://schemas.microsoft.com/office/drawing/2014/main" id="{ED1DB3B4-A6DC-476F-986E-DF361EE84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3" name="Freeform 16">
              <a:extLst>
                <a:ext uri="{FF2B5EF4-FFF2-40B4-BE49-F238E27FC236}">
                  <a16:creationId xmlns:a16="http://schemas.microsoft.com/office/drawing/2014/main" id="{4EE13DFA-3489-4DE6-9154-34D9CB400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4" name="Freeform 17">
              <a:extLst>
                <a:ext uri="{FF2B5EF4-FFF2-40B4-BE49-F238E27FC236}">
                  <a16:creationId xmlns:a16="http://schemas.microsoft.com/office/drawing/2014/main" id="{5CD12D51-F9A8-4CC9-B9C9-206EAFD8C1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5" name="Freeform 18">
              <a:extLst>
                <a:ext uri="{FF2B5EF4-FFF2-40B4-BE49-F238E27FC236}">
                  <a16:creationId xmlns:a16="http://schemas.microsoft.com/office/drawing/2014/main" id="{266B326C-1178-40F9-A265-6067D363B4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6" name="Freeform 19">
              <a:extLst>
                <a:ext uri="{FF2B5EF4-FFF2-40B4-BE49-F238E27FC236}">
                  <a16:creationId xmlns:a16="http://schemas.microsoft.com/office/drawing/2014/main" id="{12F3B319-F00B-4755-BC54-95511E21DB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7" name="Freeform 20">
              <a:extLst>
                <a:ext uri="{FF2B5EF4-FFF2-40B4-BE49-F238E27FC236}">
                  <a16:creationId xmlns:a16="http://schemas.microsoft.com/office/drawing/2014/main" id="{3079D7BD-8A3F-47F6-8407-D9DA96FF35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8" name="Freeform 21">
              <a:extLst>
                <a:ext uri="{FF2B5EF4-FFF2-40B4-BE49-F238E27FC236}">
                  <a16:creationId xmlns:a16="http://schemas.microsoft.com/office/drawing/2014/main" id="{1F97C31C-8585-43FB-924B-8ADD651233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9" name="Freeform 22">
              <a:extLst>
                <a:ext uri="{FF2B5EF4-FFF2-40B4-BE49-F238E27FC236}">
                  <a16:creationId xmlns:a16="http://schemas.microsoft.com/office/drawing/2014/main" id="{A33E1C89-7E74-49BF-A5D1-9A352ED03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C4A17ED-96AA-44A6-A050-E1A7A1CDD9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22" name="Freeform 27">
              <a:extLst>
                <a:ext uri="{FF2B5EF4-FFF2-40B4-BE49-F238E27FC236}">
                  <a16:creationId xmlns:a16="http://schemas.microsoft.com/office/drawing/2014/main" id="{FBB2A87E-3E24-4A6F-9FD8-0F1436D4D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0" name="Freeform 28">
              <a:extLst>
                <a:ext uri="{FF2B5EF4-FFF2-40B4-BE49-F238E27FC236}">
                  <a16:creationId xmlns:a16="http://schemas.microsoft.com/office/drawing/2014/main" id="{257F945B-2AA3-4328-BFF5-20DE64011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4" name="Freeform 29">
              <a:extLst>
                <a:ext uri="{FF2B5EF4-FFF2-40B4-BE49-F238E27FC236}">
                  <a16:creationId xmlns:a16="http://schemas.microsoft.com/office/drawing/2014/main" id="{E1A7230F-6A6F-403C-9D83-7176E28525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5" name="Freeform 30">
              <a:extLst>
                <a:ext uri="{FF2B5EF4-FFF2-40B4-BE49-F238E27FC236}">
                  <a16:creationId xmlns:a16="http://schemas.microsoft.com/office/drawing/2014/main" id="{E33E315A-9CB0-460E-A8B7-0A064BBFA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6" name="Freeform 31">
              <a:extLst>
                <a:ext uri="{FF2B5EF4-FFF2-40B4-BE49-F238E27FC236}">
                  <a16:creationId xmlns:a16="http://schemas.microsoft.com/office/drawing/2014/main" id="{22CAAD33-CFAD-4E61-82AE-0C6F838530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7" name="Freeform 32">
              <a:extLst>
                <a:ext uri="{FF2B5EF4-FFF2-40B4-BE49-F238E27FC236}">
                  <a16:creationId xmlns:a16="http://schemas.microsoft.com/office/drawing/2014/main" id="{1A20E13C-2540-4000-A13B-8F781100E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8" name="Freeform 33">
              <a:extLst>
                <a:ext uri="{FF2B5EF4-FFF2-40B4-BE49-F238E27FC236}">
                  <a16:creationId xmlns:a16="http://schemas.microsoft.com/office/drawing/2014/main" id="{51EF0A01-E03D-448B-B12E-D5BFC6D0D2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9" name="Freeform 34">
              <a:extLst>
                <a:ext uri="{FF2B5EF4-FFF2-40B4-BE49-F238E27FC236}">
                  <a16:creationId xmlns:a16="http://schemas.microsoft.com/office/drawing/2014/main" id="{58286A03-168E-477B-8876-2C53E4950D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0" name="Freeform 35">
              <a:extLst>
                <a:ext uri="{FF2B5EF4-FFF2-40B4-BE49-F238E27FC236}">
                  <a16:creationId xmlns:a16="http://schemas.microsoft.com/office/drawing/2014/main" id="{3DFFC705-1899-4E4C-AE76-F85BAF2F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1" name="Freeform 36">
              <a:extLst>
                <a:ext uri="{FF2B5EF4-FFF2-40B4-BE49-F238E27FC236}">
                  <a16:creationId xmlns:a16="http://schemas.microsoft.com/office/drawing/2014/main" id="{01C9598D-BDF6-4A24-83B6-4DCA4D134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2" name="Freeform 37">
              <a:extLst>
                <a:ext uri="{FF2B5EF4-FFF2-40B4-BE49-F238E27FC236}">
                  <a16:creationId xmlns:a16="http://schemas.microsoft.com/office/drawing/2014/main" id="{950C8213-67CD-4DEF-AA44-8BB3101392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3" name="Freeform 38">
              <a:extLst>
                <a:ext uri="{FF2B5EF4-FFF2-40B4-BE49-F238E27FC236}">
                  <a16:creationId xmlns:a16="http://schemas.microsoft.com/office/drawing/2014/main" id="{2016FE1D-E3EB-4CF6-809B-159872CC7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CE6C63DC-BAE4-42B6-8FDF-F6467C2D2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2" name="Freeform 6">
            <a:extLst>
              <a:ext uri="{FF2B5EF4-FFF2-40B4-BE49-F238E27FC236}">
                <a16:creationId xmlns:a16="http://schemas.microsoft.com/office/drawing/2014/main" id="{5BD23F8E-2E78-4C84-8EFB-FE6C8ACB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 useBgFill="1">
        <p:nvSpPr>
          <p:cNvPr id="73" name="Rectangle 38">
            <a:extLst>
              <a:ext uri="{FF2B5EF4-FFF2-40B4-BE49-F238E27FC236}">
                <a16:creationId xmlns:a16="http://schemas.microsoft.com/office/drawing/2014/main" id="{F81819F9-8CAC-4A6C-8F06-0482027F9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CAEDAC-9796-47C1-B4AB-7D52EC6EC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3062" y="1864865"/>
            <a:ext cx="8131550" cy="2262781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 b="0" i="0">
                <a:effectLst/>
              </a:rPr>
              <a:t>“Researchers have found that merely asking people to assume their initial judgment is wrong, to seriously consider why that might be, and then make another judgment, produces a second estimate which, when combined with the first, improves accuracy almost as much as getting a second estimate from another person.”</a:t>
            </a:r>
            <a:endParaRPr lang="en-US" sz="2200"/>
          </a:p>
        </p:txBody>
      </p:sp>
      <p:sp>
        <p:nvSpPr>
          <p:cNvPr id="74" name="Rectangle 40">
            <a:extLst>
              <a:ext uri="{FF2B5EF4-FFF2-40B4-BE49-F238E27FC236}">
                <a16:creationId xmlns:a16="http://schemas.microsoft.com/office/drawing/2014/main" id="{4A98CC08-AEC2-4E8F-8F52-0F5C6372DB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285151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5" name="Group 42">
            <a:extLst>
              <a:ext uri="{FF2B5EF4-FFF2-40B4-BE49-F238E27FC236}">
                <a16:creationId xmlns:a16="http://schemas.microsoft.com/office/drawing/2014/main" id="{5D1545E6-EB3C-4478-A661-A2CA963F12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tx2">
              <a:lumMod val="60000"/>
              <a:lumOff val="40000"/>
              <a:alpha val="40000"/>
            </a:schemeClr>
          </a:solidFill>
        </p:grpSpPr>
        <p:sp>
          <p:nvSpPr>
            <p:cNvPr id="44" name="Freeform 11">
              <a:extLst>
                <a:ext uri="{FF2B5EF4-FFF2-40B4-BE49-F238E27FC236}">
                  <a16:creationId xmlns:a16="http://schemas.microsoft.com/office/drawing/2014/main" id="{B2E5B960-0C5D-4F77-8E9F-9F3D883D83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76" name="Freeform 12">
              <a:extLst>
                <a:ext uri="{FF2B5EF4-FFF2-40B4-BE49-F238E27FC236}">
                  <a16:creationId xmlns:a16="http://schemas.microsoft.com/office/drawing/2014/main" id="{258E44FC-92AD-43A0-BB05-DB268C82D8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6" name="Freeform 13">
              <a:extLst>
                <a:ext uri="{FF2B5EF4-FFF2-40B4-BE49-F238E27FC236}">
                  <a16:creationId xmlns:a16="http://schemas.microsoft.com/office/drawing/2014/main" id="{C63D3083-A56C-4199-8DE0-63C8BE9EDF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7" name="Freeform 14">
              <a:extLst>
                <a:ext uri="{FF2B5EF4-FFF2-40B4-BE49-F238E27FC236}">
                  <a16:creationId xmlns:a16="http://schemas.microsoft.com/office/drawing/2014/main" id="{C7CD3581-635D-438F-A64F-68404E7AE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8" name="Freeform 15">
              <a:extLst>
                <a:ext uri="{FF2B5EF4-FFF2-40B4-BE49-F238E27FC236}">
                  <a16:creationId xmlns:a16="http://schemas.microsoft.com/office/drawing/2014/main" id="{AD6904C0-211C-41A2-BDB8-3B07C90BB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9" name="Freeform 16">
              <a:extLst>
                <a:ext uri="{FF2B5EF4-FFF2-40B4-BE49-F238E27FC236}">
                  <a16:creationId xmlns:a16="http://schemas.microsoft.com/office/drawing/2014/main" id="{B0837DA6-CAF9-4E78-A39E-6358EDE2B1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0" name="Freeform 17">
              <a:extLst>
                <a:ext uri="{FF2B5EF4-FFF2-40B4-BE49-F238E27FC236}">
                  <a16:creationId xmlns:a16="http://schemas.microsoft.com/office/drawing/2014/main" id="{0A99DD7D-3AB3-471E-842F-8AFEA09D07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1" name="Freeform 18">
              <a:extLst>
                <a:ext uri="{FF2B5EF4-FFF2-40B4-BE49-F238E27FC236}">
                  <a16:creationId xmlns:a16="http://schemas.microsoft.com/office/drawing/2014/main" id="{9C70B0D4-92FE-478F-86BD-93BA2C4DFC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2" name="Freeform 19">
              <a:extLst>
                <a:ext uri="{FF2B5EF4-FFF2-40B4-BE49-F238E27FC236}">
                  <a16:creationId xmlns:a16="http://schemas.microsoft.com/office/drawing/2014/main" id="{C9156BE6-11D4-4696-9E3F-C325BFAC81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3" name="Freeform 20">
              <a:extLst>
                <a:ext uri="{FF2B5EF4-FFF2-40B4-BE49-F238E27FC236}">
                  <a16:creationId xmlns:a16="http://schemas.microsoft.com/office/drawing/2014/main" id="{4E667226-1D20-4A9D-BBE3-AC17EA436F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4" name="Freeform 21">
              <a:extLst>
                <a:ext uri="{FF2B5EF4-FFF2-40B4-BE49-F238E27FC236}">
                  <a16:creationId xmlns:a16="http://schemas.microsoft.com/office/drawing/2014/main" id="{2F87E3B6-5202-4434-9B26-42B46774F3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5" name="Freeform 22">
              <a:extLst>
                <a:ext uri="{FF2B5EF4-FFF2-40B4-BE49-F238E27FC236}">
                  <a16:creationId xmlns:a16="http://schemas.microsoft.com/office/drawing/2014/main" id="{AEA5E85F-F1F4-40E4-A62C-95324F674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40A75861-F6C5-44A9-B161-B03701CBD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  <a:solidFill>
            <a:schemeClr val="tx2">
              <a:lumMod val="75000"/>
              <a:alpha val="70000"/>
            </a:schemeClr>
          </a:solidFill>
        </p:grpSpPr>
        <p:sp>
          <p:nvSpPr>
            <p:cNvPr id="58" name="Freeform 27">
              <a:extLst>
                <a:ext uri="{FF2B5EF4-FFF2-40B4-BE49-F238E27FC236}">
                  <a16:creationId xmlns:a16="http://schemas.microsoft.com/office/drawing/2014/main" id="{72EE642D-4F69-47C0-99BA-CE43503573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9" name="Freeform 28">
              <a:extLst>
                <a:ext uri="{FF2B5EF4-FFF2-40B4-BE49-F238E27FC236}">
                  <a16:creationId xmlns:a16="http://schemas.microsoft.com/office/drawing/2014/main" id="{26178CE4-DA2D-46EA-AB8D-341C5AC563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0" name="Freeform 29">
              <a:extLst>
                <a:ext uri="{FF2B5EF4-FFF2-40B4-BE49-F238E27FC236}">
                  <a16:creationId xmlns:a16="http://schemas.microsoft.com/office/drawing/2014/main" id="{698E9F53-8381-4FA5-A510-846925D24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1" name="Freeform 30">
              <a:extLst>
                <a:ext uri="{FF2B5EF4-FFF2-40B4-BE49-F238E27FC236}">
                  <a16:creationId xmlns:a16="http://schemas.microsoft.com/office/drawing/2014/main" id="{B13CE284-F21E-411B-BB8E-9C03B853CE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2" name="Freeform 31">
              <a:extLst>
                <a:ext uri="{FF2B5EF4-FFF2-40B4-BE49-F238E27FC236}">
                  <a16:creationId xmlns:a16="http://schemas.microsoft.com/office/drawing/2014/main" id="{23DF4578-4703-437C-A797-2A2D0CEE5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3" name="Freeform 32">
              <a:extLst>
                <a:ext uri="{FF2B5EF4-FFF2-40B4-BE49-F238E27FC236}">
                  <a16:creationId xmlns:a16="http://schemas.microsoft.com/office/drawing/2014/main" id="{F878F330-AF64-4F8F-88FD-A4A408D6D3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4" name="Freeform 33">
              <a:extLst>
                <a:ext uri="{FF2B5EF4-FFF2-40B4-BE49-F238E27FC236}">
                  <a16:creationId xmlns:a16="http://schemas.microsoft.com/office/drawing/2014/main" id="{AC9B00BF-4FB7-42FA-BBBD-7DB54ED3F0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5" name="Freeform 34">
              <a:extLst>
                <a:ext uri="{FF2B5EF4-FFF2-40B4-BE49-F238E27FC236}">
                  <a16:creationId xmlns:a16="http://schemas.microsoft.com/office/drawing/2014/main" id="{BD3D64CA-2AAD-4609-8DAA-3EAD4609A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6" name="Freeform 35">
              <a:extLst>
                <a:ext uri="{FF2B5EF4-FFF2-40B4-BE49-F238E27FC236}">
                  <a16:creationId xmlns:a16="http://schemas.microsoft.com/office/drawing/2014/main" id="{C669E05A-8550-4E91-B29E-E1912228EC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7" name="Freeform 36">
              <a:extLst>
                <a:ext uri="{FF2B5EF4-FFF2-40B4-BE49-F238E27FC236}">
                  <a16:creationId xmlns:a16="http://schemas.microsoft.com/office/drawing/2014/main" id="{F8C1FD53-1E8F-46CA-BC2D-FCEC4DAE07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8" name="Freeform 37">
              <a:extLst>
                <a:ext uri="{FF2B5EF4-FFF2-40B4-BE49-F238E27FC236}">
                  <a16:creationId xmlns:a16="http://schemas.microsoft.com/office/drawing/2014/main" id="{CC97A31F-CFDE-4EA3-98F1-13FDD16702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9" name="Freeform 38">
              <a:extLst>
                <a:ext uri="{FF2B5EF4-FFF2-40B4-BE49-F238E27FC236}">
                  <a16:creationId xmlns:a16="http://schemas.microsoft.com/office/drawing/2014/main" id="{9E1540E7-E6C3-4907-B70A-B175683655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71" name="Freeform 11">
            <a:extLst>
              <a:ext uri="{FF2B5EF4-FFF2-40B4-BE49-F238E27FC236}">
                <a16:creationId xmlns:a16="http://schemas.microsoft.com/office/drawing/2014/main" id="{1310EFE2-B91D-47E7-B117-C2A802800A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411452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5D2EA4-BEDB-48ED-A796-DAD435405154}"/>
              </a:ext>
            </a:extLst>
          </p:cNvPr>
          <p:cNvSpPr txBox="1"/>
          <p:nvPr/>
        </p:nvSpPr>
        <p:spPr>
          <a:xfrm>
            <a:off x="5554118" y="4713104"/>
            <a:ext cx="6087591" cy="646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i="0" dirty="0">
                <a:solidFill>
                  <a:srgbClr val="333333"/>
                </a:solidFill>
                <a:effectLst/>
                <a:latin typeface="Lato" panose="020B0604020202020204" pitchFamily="34" charset="0"/>
              </a:rPr>
              <a:t>Philip E. </a:t>
            </a:r>
            <a:r>
              <a:rPr lang="en-AU" b="1" i="0" dirty="0" err="1">
                <a:solidFill>
                  <a:srgbClr val="333333"/>
                </a:solidFill>
                <a:effectLst/>
                <a:latin typeface="Lato" panose="020B0604020202020204" pitchFamily="34" charset="0"/>
              </a:rPr>
              <a:t>Tetlock</a:t>
            </a:r>
            <a:r>
              <a:rPr lang="en-AU" b="1" i="0" dirty="0">
                <a:solidFill>
                  <a:srgbClr val="333333"/>
                </a:solidFill>
                <a:effectLst/>
                <a:latin typeface="Lato" panose="020B0604020202020204" pitchFamily="34" charset="0"/>
              </a:rPr>
              <a:t>, </a:t>
            </a:r>
            <a:r>
              <a:rPr lang="en-AU" b="1" i="0" u="none" strike="noStrike" dirty="0">
                <a:solidFill>
                  <a:srgbClr val="333333"/>
                </a:solidFill>
                <a:effectLst/>
                <a:latin typeface="Lato" panose="020B0604020202020204" pitchFamily="34" charset="0"/>
              </a:rPr>
              <a:t>Superforecasting: The Art and Science of Prediction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04392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D7AC7-91AD-42A8-9C0A-8D5A256BD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0C7A8-D2A4-425E-8497-2306D54BF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821" y="2113935"/>
            <a:ext cx="10111242" cy="4275175"/>
          </a:xfrm>
        </p:spPr>
        <p:txBody>
          <a:bodyPr>
            <a:normAutofit/>
          </a:bodyPr>
          <a:lstStyle/>
          <a:p>
            <a:r>
              <a:rPr lang="en-US" dirty="0"/>
              <a:t>Personal Motivation</a:t>
            </a:r>
          </a:p>
          <a:p>
            <a:r>
              <a:rPr lang="en-US" dirty="0"/>
              <a:t>Introduction</a:t>
            </a:r>
          </a:p>
          <a:p>
            <a:r>
              <a:rPr lang="en-US" dirty="0"/>
              <a:t>Machine Learning</a:t>
            </a:r>
          </a:p>
          <a:p>
            <a:r>
              <a:rPr lang="en-US" dirty="0"/>
              <a:t>Recurrent Neural Network</a:t>
            </a:r>
          </a:p>
          <a:p>
            <a:r>
              <a:rPr lang="en-US" dirty="0"/>
              <a:t>Convolution Neural Network</a:t>
            </a:r>
          </a:p>
          <a:p>
            <a:r>
              <a:rPr lang="en-US" dirty="0"/>
              <a:t>Challenges of Weather Forecasting</a:t>
            </a:r>
          </a:p>
          <a:p>
            <a:r>
              <a:rPr lang="en-US" dirty="0"/>
              <a:t>Research Methodology</a:t>
            </a:r>
          </a:p>
          <a:p>
            <a:r>
              <a:rPr lang="en-US" dirty="0"/>
              <a:t>Implementation</a:t>
            </a:r>
          </a:p>
          <a:p>
            <a:r>
              <a:rPr lang="en-US" dirty="0"/>
              <a:t>Conclusion</a:t>
            </a:r>
          </a:p>
          <a:p>
            <a:r>
              <a:rPr lang="de-DE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3182183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0D0B3-6453-42C0-80AE-071EA6A65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452718"/>
            <a:ext cx="5629222" cy="1400530"/>
          </a:xfrm>
        </p:spPr>
        <p:txBody>
          <a:bodyPr>
            <a:normAutofit/>
          </a:bodyPr>
          <a:lstStyle/>
          <a:p>
            <a:r>
              <a:rPr lang="en-GB"/>
              <a:t>Personal Motivation</a:t>
            </a:r>
            <a:endParaRPr lang="de-DE"/>
          </a:p>
        </p:txBody>
      </p:sp>
      <p:sp>
        <p:nvSpPr>
          <p:cNvPr id="8" name="Freeform: Shape 10">
            <a:extLst>
              <a:ext uri="{FF2B5EF4-FFF2-40B4-BE49-F238E27FC236}">
                <a16:creationId xmlns:a16="http://schemas.microsoft.com/office/drawing/2014/main" id="{BDF1A5A8-1F9D-41FB-9968-E8E141CC3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998731" y="664312"/>
            <a:ext cx="6858001" cy="5529377"/>
          </a:xfrm>
          <a:custGeom>
            <a:avLst/>
            <a:gdLst>
              <a:gd name="connsiteX0" fmla="*/ 6858001 w 6858001"/>
              <a:gd name="connsiteY0" fmla="*/ 1177 h 5529377"/>
              <a:gd name="connsiteX1" fmla="*/ 6858001 w 6858001"/>
              <a:gd name="connsiteY1" fmla="*/ 1344715 h 5529377"/>
              <a:gd name="connsiteX2" fmla="*/ 6858000 w 6858001"/>
              <a:gd name="connsiteY2" fmla="*/ 1344715 h 5529377"/>
              <a:gd name="connsiteX3" fmla="*/ 6858000 w 6858001"/>
              <a:gd name="connsiteY3" fmla="*/ 5529377 h 5529377"/>
              <a:gd name="connsiteX4" fmla="*/ 0 w 6858001"/>
              <a:gd name="connsiteY4" fmla="*/ 5529376 h 5529377"/>
              <a:gd name="connsiteX5" fmla="*/ 0 w 6858001"/>
              <a:gd name="connsiteY5" fmla="*/ 891096 h 5529377"/>
              <a:gd name="connsiteX6" fmla="*/ 1 w 6858001"/>
              <a:gd name="connsiteY6" fmla="*/ 891096 h 5529377"/>
              <a:gd name="connsiteX7" fmla="*/ 1 w 6858001"/>
              <a:gd name="connsiteY7" fmla="*/ 0 h 5529377"/>
              <a:gd name="connsiteX8" fmla="*/ 40463 w 6858001"/>
              <a:gd name="connsiteY8" fmla="*/ 5883 h 5529377"/>
              <a:gd name="connsiteX9" fmla="*/ 159107 w 6858001"/>
              <a:gd name="connsiteY9" fmla="*/ 23196 h 5529377"/>
              <a:gd name="connsiteX10" fmla="*/ 245518 w 6858001"/>
              <a:gd name="connsiteY10" fmla="*/ 35299 h 5529377"/>
              <a:gd name="connsiteX11" fmla="*/ 348388 w 6858001"/>
              <a:gd name="connsiteY11" fmla="*/ 48073 h 5529377"/>
              <a:gd name="connsiteX12" fmla="*/ 470460 w 6858001"/>
              <a:gd name="connsiteY12" fmla="*/ 63369 h 5529377"/>
              <a:gd name="connsiteX13" fmla="*/ 605563 w 6858001"/>
              <a:gd name="connsiteY13" fmla="*/ 79506 h 5529377"/>
              <a:gd name="connsiteX14" fmla="*/ 757810 w 6858001"/>
              <a:gd name="connsiteY14" fmla="*/ 96483 h 5529377"/>
              <a:gd name="connsiteX15" fmla="*/ 923774 w 6858001"/>
              <a:gd name="connsiteY15" fmla="*/ 114469 h 5529377"/>
              <a:gd name="connsiteX16" fmla="*/ 1104139 w 6858001"/>
              <a:gd name="connsiteY16" fmla="*/ 132454 h 5529377"/>
              <a:gd name="connsiteX17" fmla="*/ 1296163 w 6858001"/>
              <a:gd name="connsiteY17" fmla="*/ 150776 h 5529377"/>
              <a:gd name="connsiteX18" fmla="*/ 1503275 w 6858001"/>
              <a:gd name="connsiteY18" fmla="*/ 167753 h 5529377"/>
              <a:gd name="connsiteX19" fmla="*/ 1719988 w 6858001"/>
              <a:gd name="connsiteY19" fmla="*/ 184058 h 5529377"/>
              <a:gd name="connsiteX20" fmla="*/ 1949045 w 6858001"/>
              <a:gd name="connsiteY20" fmla="*/ 198849 h 5529377"/>
              <a:gd name="connsiteX21" fmla="*/ 2187703 w 6858001"/>
              <a:gd name="connsiteY21" fmla="*/ 212969 h 5529377"/>
              <a:gd name="connsiteX22" fmla="*/ 2436649 w 6858001"/>
              <a:gd name="connsiteY22" fmla="*/ 226248 h 5529377"/>
              <a:gd name="connsiteX23" fmla="*/ 2564208 w 6858001"/>
              <a:gd name="connsiteY23" fmla="*/ 230955 h 5529377"/>
              <a:gd name="connsiteX24" fmla="*/ 2694509 w 6858001"/>
              <a:gd name="connsiteY24" fmla="*/ 236165 h 5529377"/>
              <a:gd name="connsiteX25" fmla="*/ 2826868 w 6858001"/>
              <a:gd name="connsiteY25" fmla="*/ 241040 h 5529377"/>
              <a:gd name="connsiteX26" fmla="*/ 2959914 w 6858001"/>
              <a:gd name="connsiteY26" fmla="*/ 244234 h 5529377"/>
              <a:gd name="connsiteX27" fmla="*/ 3095702 w 6858001"/>
              <a:gd name="connsiteY27" fmla="*/ 247091 h 5529377"/>
              <a:gd name="connsiteX28" fmla="*/ 3232862 w 6858001"/>
              <a:gd name="connsiteY28" fmla="*/ 250117 h 5529377"/>
              <a:gd name="connsiteX29" fmla="*/ 3372765 w 6858001"/>
              <a:gd name="connsiteY29" fmla="*/ 252134 h 5529377"/>
              <a:gd name="connsiteX30" fmla="*/ 3514040 w 6858001"/>
              <a:gd name="connsiteY30" fmla="*/ 252134 h 5529377"/>
              <a:gd name="connsiteX31" fmla="*/ 3656686 w 6858001"/>
              <a:gd name="connsiteY31" fmla="*/ 253142 h 5529377"/>
              <a:gd name="connsiteX32" fmla="*/ 3800704 w 6858001"/>
              <a:gd name="connsiteY32" fmla="*/ 252134 h 5529377"/>
              <a:gd name="connsiteX33" fmla="*/ 3946780 w 6858001"/>
              <a:gd name="connsiteY33" fmla="*/ 250117 h 5529377"/>
              <a:gd name="connsiteX34" fmla="*/ 4092855 w 6858001"/>
              <a:gd name="connsiteY34" fmla="*/ 248268 h 5529377"/>
              <a:gd name="connsiteX35" fmla="*/ 4240988 w 6858001"/>
              <a:gd name="connsiteY35" fmla="*/ 244234 h 5529377"/>
              <a:gd name="connsiteX36" fmla="*/ 4390492 w 6858001"/>
              <a:gd name="connsiteY36" fmla="*/ 240032 h 5529377"/>
              <a:gd name="connsiteX37" fmla="*/ 4539997 w 6858001"/>
              <a:gd name="connsiteY37" fmla="*/ 235157 h 5529377"/>
              <a:gd name="connsiteX38" fmla="*/ 4690873 w 6858001"/>
              <a:gd name="connsiteY38" fmla="*/ 228266 h 5529377"/>
              <a:gd name="connsiteX39" fmla="*/ 4843120 w 6858001"/>
              <a:gd name="connsiteY39" fmla="*/ 220029 h 5529377"/>
              <a:gd name="connsiteX40" fmla="*/ 4996054 w 6858001"/>
              <a:gd name="connsiteY40" fmla="*/ 212129 h 5529377"/>
              <a:gd name="connsiteX41" fmla="*/ 5148987 w 6858001"/>
              <a:gd name="connsiteY41" fmla="*/ 202044 h 5529377"/>
              <a:gd name="connsiteX42" fmla="*/ 5303978 w 6858001"/>
              <a:gd name="connsiteY42" fmla="*/ 189941 h 5529377"/>
              <a:gd name="connsiteX43" fmla="*/ 5456911 w 6858001"/>
              <a:gd name="connsiteY43" fmla="*/ 177839 h 5529377"/>
              <a:gd name="connsiteX44" fmla="*/ 5612588 w 6858001"/>
              <a:gd name="connsiteY44" fmla="*/ 163887 h 5529377"/>
              <a:gd name="connsiteX45" fmla="*/ 5768950 w 6858001"/>
              <a:gd name="connsiteY45" fmla="*/ 148591 h 5529377"/>
              <a:gd name="connsiteX46" fmla="*/ 5923255 w 6858001"/>
              <a:gd name="connsiteY46" fmla="*/ 132455 h 5529377"/>
              <a:gd name="connsiteX47" fmla="*/ 6079618 w 6858001"/>
              <a:gd name="connsiteY47" fmla="*/ 113629 h 5529377"/>
              <a:gd name="connsiteX48" fmla="*/ 6235294 w 6858001"/>
              <a:gd name="connsiteY48" fmla="*/ 93458 h 5529377"/>
              <a:gd name="connsiteX49" fmla="*/ 6391657 w 6858001"/>
              <a:gd name="connsiteY49" fmla="*/ 73455 h 5529377"/>
              <a:gd name="connsiteX50" fmla="*/ 6547333 w 6858001"/>
              <a:gd name="connsiteY50" fmla="*/ 50091 h 5529377"/>
              <a:gd name="connsiteX51" fmla="*/ 6702324 w 6858001"/>
              <a:gd name="connsiteY51" fmla="*/ 26222 h 5529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5529377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5529377"/>
                </a:lnTo>
                <a:lnTo>
                  <a:pt x="0" y="5529376"/>
                </a:lnTo>
                <a:lnTo>
                  <a:pt x="0" y="891096"/>
                </a:lnTo>
                <a:lnTo>
                  <a:pt x="1" y="891096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8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5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4" y="252134"/>
                </a:lnTo>
                <a:lnTo>
                  <a:pt x="3946780" y="250117"/>
                </a:lnTo>
                <a:lnTo>
                  <a:pt x="4092855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2FF8A507-56A2-4FE4-8B7E-C1BC9DD86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49843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29E9EF-1BD7-4F6B-8A55-B5880BC6ED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6012" y="3779427"/>
            <a:ext cx="2845032" cy="2733370"/>
          </a:xfrm>
          <a:prstGeom prst="rect">
            <a:avLst/>
          </a:prstGeom>
          <a:effectLst/>
        </p:spPr>
      </p:pic>
      <p:sp>
        <p:nvSpPr>
          <p:cNvPr id="10" name="Rectangle 14">
            <a:extLst>
              <a:ext uri="{FF2B5EF4-FFF2-40B4-BE49-F238E27FC236}">
                <a16:creationId xmlns:a16="http://schemas.microsoft.com/office/drawing/2014/main" id="{FCC54B50-93BD-4243-9020-11486472E2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4C80F-7C18-4DE3-B8F1-A7EBFEB58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982" y="1853248"/>
            <a:ext cx="5628635" cy="4195481"/>
          </a:xfrm>
        </p:spPr>
        <p:txBody>
          <a:bodyPr>
            <a:normAutofit/>
          </a:bodyPr>
          <a:lstStyle/>
          <a:p>
            <a:r>
              <a:rPr lang="en-GB" dirty="0"/>
              <a:t>Today Meteorologists rely on numerical models to predict wind speed, precipitation, air pressure and other factors that indicate the path and intensity of a weather event. E.g. a hurricane, storm, blizzard</a:t>
            </a:r>
          </a:p>
          <a:p>
            <a:r>
              <a:rPr lang="en-GB" dirty="0"/>
              <a:t>How can this process be optimised so that all weather conditions can be predicted as accurately as possible and with least amount of human intervention?</a:t>
            </a:r>
          </a:p>
        </p:txBody>
      </p:sp>
      <p:pic>
        <p:nvPicPr>
          <p:cNvPr id="6" name="Picture 5" descr="A map of the world&#10;&#10;Description automatically generated with medium confidence">
            <a:extLst>
              <a:ext uri="{FF2B5EF4-FFF2-40B4-BE49-F238E27FC236}">
                <a16:creationId xmlns:a16="http://schemas.microsoft.com/office/drawing/2014/main" id="{257EA894-2EF9-4EC7-8A35-9101DEC16C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9315" y="1379935"/>
            <a:ext cx="4936879" cy="2162557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007683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2723366-C73B-4ED6-ADEF-29911C6BC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7A4152-8E41-4D1C-B88C-57C5C430A6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631" y="484632"/>
            <a:ext cx="11222737" cy="1479635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75CC1D-25A9-4641-A000-E14FC827F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421" y="796374"/>
            <a:ext cx="10583158" cy="880027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Introduction</a:t>
            </a:r>
            <a:endParaRPr lang="de-DE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9F76F5-72D4-4814-9169-8F535AEEB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747" y="648377"/>
            <a:ext cx="10890504" cy="1152144"/>
          </a:xfrm>
          <a:prstGeom prst="rect">
            <a:avLst/>
          </a:prstGeom>
          <a:noFill/>
          <a:ln w="15875" cap="flat">
            <a:solidFill>
              <a:schemeClr val="accent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202988-4466-42C5-B33A-AFABF051B4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86000"/>
            <a:ext cx="12192000" cy="4572000"/>
          </a:xfrm>
          <a:prstGeom prst="rect">
            <a:avLst/>
          </a:prstGeom>
          <a:gradFill>
            <a:gsLst>
              <a:gs pos="0">
                <a:schemeClr val="bg1"/>
              </a:gs>
              <a:gs pos="30000">
                <a:schemeClr val="bg1"/>
              </a:gs>
              <a:gs pos="61000">
                <a:schemeClr val="bg2">
                  <a:lumMod val="20000"/>
                  <a:lumOff val="80000"/>
                </a:schemeClr>
              </a:gs>
              <a:gs pos="97000">
                <a:schemeClr val="bg2">
                  <a:lumMod val="70000"/>
                  <a:lumOff val="3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innerShdw blurRad="63500" dist="50800" dir="162000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248CC-F69D-4E3B-9817-3820ABC9B5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631" y="2612256"/>
            <a:ext cx="7174698" cy="3926196"/>
          </a:xfrm>
        </p:spPr>
        <p:txBody>
          <a:bodyPr>
            <a:normAutofit/>
          </a:bodyPr>
          <a:lstStyle/>
          <a:p>
            <a:r>
              <a:rPr lang="en-AU" dirty="0"/>
              <a:t>Due to its impact on worldwide human life, weather forecasting has attracted the interest of numerous scholars from diverse research areas.</a:t>
            </a:r>
            <a:endParaRPr lang="de-DE" dirty="0"/>
          </a:p>
          <a:p>
            <a:pPr marL="0" indent="0">
              <a:buNone/>
            </a:pPr>
            <a:r>
              <a:rPr lang="en-AU" b="1" dirty="0"/>
              <a:t>What is Deep Learning?</a:t>
            </a:r>
          </a:p>
          <a:p>
            <a:r>
              <a:rPr lang="en-AU" dirty="0"/>
              <a:t>Deep Learning is a subfield of machine learning concerned with algorithms inspired by the structure and function of the brain called artificial neural networks.</a:t>
            </a:r>
            <a:endParaRPr lang="de-DE" dirty="0"/>
          </a:p>
        </p:txBody>
      </p:sp>
      <p:pic>
        <p:nvPicPr>
          <p:cNvPr id="5" name="Picture 4" descr="Diagram, venn diagram&#10;&#10;Description automatically generated">
            <a:extLst>
              <a:ext uri="{FF2B5EF4-FFF2-40B4-BE49-F238E27FC236}">
                <a16:creationId xmlns:a16="http://schemas.microsoft.com/office/drawing/2014/main" id="{C4E99072-DB92-4E23-ADCD-E57677A0B3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7891" y="2448899"/>
            <a:ext cx="3319477" cy="3624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740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D8DF5C3E-BDAB-40E6-A40B-8C05D8CD3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78925"/>
              </a:gs>
              <a:gs pos="50000">
                <a:srgbClr val="D54209"/>
              </a:gs>
              <a:gs pos="100000">
                <a:srgbClr val="8D0000"/>
              </a:gs>
            </a:gsLst>
            <a:lin ang="2520000" scaled="0"/>
          </a:gradFill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D90C31A-86E3-472B-B929-496667598E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DD3589A-DB65-424B-ACF1-5C8155F1C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F784D76-D302-4160-A2D4-C2F4AB76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6412862" cy="1368198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A62EA-98A5-4657-AC04-71FBC3AD8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5584677" cy="1080938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Properties of Deep Learning</a:t>
            </a:r>
            <a:endParaRPr lang="de-DE">
              <a:solidFill>
                <a:srgbClr val="FFFFFF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08D9710-1A5F-4D24-B654-F2081DE60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1"/>
            <a:ext cx="6409944" cy="25839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EBECF-22EB-4007-A00A-C3B00E8B5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5104843" cy="35993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>
                <a:solidFill>
                  <a:srgbClr val="FFFFFF"/>
                </a:solidFill>
              </a:rPr>
              <a:t>Results get better with</a:t>
            </a:r>
          </a:p>
          <a:p>
            <a:r>
              <a:rPr lang="en-GB" sz="2000" dirty="0">
                <a:solidFill>
                  <a:srgbClr val="FFFFFF"/>
                </a:solidFill>
              </a:rPr>
              <a:t>More data</a:t>
            </a:r>
          </a:p>
          <a:p>
            <a:r>
              <a:rPr lang="en-GB" sz="2000" dirty="0">
                <a:solidFill>
                  <a:srgbClr val="FFFFFF"/>
                </a:solidFill>
              </a:rPr>
              <a:t>Bigger models</a:t>
            </a:r>
          </a:p>
          <a:p>
            <a:r>
              <a:rPr lang="en-GB" sz="2000" dirty="0">
                <a:solidFill>
                  <a:srgbClr val="FFFFFF"/>
                </a:solidFill>
              </a:rPr>
              <a:t>More computation</a:t>
            </a:r>
          </a:p>
          <a:p>
            <a:pPr marL="0" indent="0">
              <a:buNone/>
            </a:pPr>
            <a:endParaRPr lang="en-GB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GB" sz="2000" dirty="0">
                <a:solidFill>
                  <a:srgbClr val="FFFFFF"/>
                </a:solidFill>
              </a:rPr>
              <a:t>This results in better algorithms, new insights and improved techniques which ultimately help as well</a:t>
            </a:r>
            <a:endParaRPr lang="de-DE" sz="2000" dirty="0">
              <a:solidFill>
                <a:srgbClr val="FFFFFF"/>
              </a:solidFill>
            </a:endParaRPr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B57E7D2-A94B-4A8D-B58F-D3E30C235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3163" y="642795"/>
            <a:ext cx="4812406" cy="5575125"/>
          </a:xfrm>
          <a:prstGeom prst="rect">
            <a:avLst/>
          </a:prstGeom>
          <a:ln>
            <a:noFill/>
          </a:ln>
          <a:effectLst>
            <a:outerShdw blurRad="76200" dist="63500" dir="5040000" algn="t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Diagram, schematic&#10;&#10;Description automatically generated">
            <a:extLst>
              <a:ext uri="{FF2B5EF4-FFF2-40B4-BE49-F238E27FC236}">
                <a16:creationId xmlns:a16="http://schemas.microsoft.com/office/drawing/2014/main" id="{E32F13F7-8AB6-4E31-A8BB-B9C48DDDE2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3933" y="1911742"/>
            <a:ext cx="4178419" cy="3027721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2777308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A75040-2B99-4EAC-AE89-DC91AFFF8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5376574" cy="1046988"/>
          </a:xfrm>
        </p:spPr>
        <p:txBody>
          <a:bodyPr anchor="b">
            <a:normAutofit/>
          </a:bodyPr>
          <a:lstStyle/>
          <a:p>
            <a:r>
              <a:rPr lang="en-GB" sz="5000" dirty="0"/>
              <a:t>Machine Learning</a:t>
            </a:r>
            <a:endParaRPr lang="de-DE" sz="5000" dirty="0"/>
          </a:p>
        </p:txBody>
      </p:sp>
      <p:sp>
        <p:nvSpPr>
          <p:cNvPr id="26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3F972-91CE-4D49-9907-692BA4473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7077554" cy="3547872"/>
          </a:xfrm>
        </p:spPr>
        <p:txBody>
          <a:bodyPr anchor="t">
            <a:normAutofit/>
          </a:bodyPr>
          <a:lstStyle/>
          <a:p>
            <a:r>
              <a:rPr lang="en-AU" sz="1700" b="0" i="0" dirty="0">
                <a:effectLst/>
                <a:latin typeface="Adelle W01 Regular"/>
              </a:rPr>
              <a:t>Machine learning is a subfield of artificial intelligence, which is broadly defined as the capability of a machine to imitate intelligent human behaviour.</a:t>
            </a:r>
          </a:p>
          <a:p>
            <a:r>
              <a:rPr lang="en-AU" sz="1700" dirty="0">
                <a:latin typeface="Adelle W01 Regular"/>
              </a:rPr>
              <a:t>It is main </a:t>
            </a:r>
            <a:r>
              <a:rPr lang="en-AU" sz="1700" dirty="0"/>
              <a:t>goal is to create mathematical models from samples using statistics.</a:t>
            </a:r>
          </a:p>
          <a:p>
            <a:pPr marL="0" indent="0">
              <a:buNone/>
            </a:pPr>
            <a:r>
              <a:rPr lang="de-DE" sz="1700" b="1" dirty="0"/>
              <a:t>Machine learning can be split into different categories</a:t>
            </a:r>
          </a:p>
          <a:p>
            <a:r>
              <a:rPr lang="de-DE" sz="1700" dirty="0"/>
              <a:t>Prediction</a:t>
            </a:r>
          </a:p>
          <a:p>
            <a:r>
              <a:rPr lang="de-DE" sz="1700" dirty="0"/>
              <a:t>Feature selection</a:t>
            </a:r>
          </a:p>
          <a:p>
            <a:r>
              <a:rPr lang="de-DE" sz="1700" dirty="0"/>
              <a:t>Dimensional reduction</a:t>
            </a:r>
          </a:p>
        </p:txBody>
      </p:sp>
      <p:pic>
        <p:nvPicPr>
          <p:cNvPr id="5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56B95E28-1DB8-4127-85DB-7A177FC322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6310" y="2660904"/>
            <a:ext cx="3721706" cy="345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880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379EF-CF1D-4306-86D1-87C9FAB2B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Neural Network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04C5A-5C2F-403C-98D7-6466203D8E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A neural network is a computer System which has been modelled on the human brain and nervous system.</a:t>
            </a:r>
            <a:r>
              <a:rPr lang="de-DE" dirty="0"/>
              <a:t> </a:t>
            </a:r>
            <a:endParaRPr lang="en-GB" dirty="0"/>
          </a:p>
          <a:p>
            <a:endParaRPr lang="en-GB" dirty="0"/>
          </a:p>
          <a:p>
            <a:pPr marL="0" indent="0">
              <a:buNone/>
            </a:pPr>
            <a:r>
              <a:rPr lang="en-GB" b="1" dirty="0"/>
              <a:t>Types of Neural Networks</a:t>
            </a:r>
          </a:p>
          <a:p>
            <a:r>
              <a:rPr lang="de-DE" dirty="0"/>
              <a:t>Feed-Forward Neural Network</a:t>
            </a:r>
          </a:p>
          <a:p>
            <a:r>
              <a:rPr lang="de-DE" dirty="0"/>
              <a:t>Recurrent Neural Network (RNN)</a:t>
            </a:r>
          </a:p>
          <a:p>
            <a:r>
              <a:rPr lang="de-DE" dirty="0"/>
              <a:t>Convolution Neural Network (CNN)</a:t>
            </a:r>
          </a:p>
        </p:txBody>
      </p:sp>
      <p:pic>
        <p:nvPicPr>
          <p:cNvPr id="6" name="Picture 5" descr="A city at night&#10;&#10;Description automatically generated with low confidence">
            <a:extLst>
              <a:ext uri="{FF2B5EF4-FFF2-40B4-BE49-F238E27FC236}">
                <a16:creationId xmlns:a16="http://schemas.microsoft.com/office/drawing/2014/main" id="{A90B9DF3-58C0-464B-9EED-78B51C9CA5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9832" y="3304733"/>
            <a:ext cx="2907891" cy="2571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924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0792D4F-247E-46FE-85FC-881DEFA41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10643F-9189-4F9A-AC39-68C6D9819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75488"/>
            <a:ext cx="10515600" cy="1197864"/>
          </a:xfrm>
        </p:spPr>
        <p:txBody>
          <a:bodyPr>
            <a:normAutofit/>
          </a:bodyPr>
          <a:lstStyle/>
          <a:p>
            <a:r>
              <a:rPr lang="en-GB" dirty="0"/>
              <a:t>Recurrent Neural Network</a:t>
            </a:r>
            <a:endParaRPr lang="de-DE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E272F12-AF86-441A-BC1B-C014BBBF85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75488" y="585216"/>
            <a:ext cx="0" cy="914400"/>
          </a:xfrm>
          <a:prstGeom prst="line">
            <a:avLst/>
          </a:prstGeom>
          <a:ln w="19050">
            <a:solidFill>
              <a:schemeClr val="tx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Diagram, schematic&#10;&#10;Description automatically generated">
            <a:extLst>
              <a:ext uri="{FF2B5EF4-FFF2-40B4-BE49-F238E27FC236}">
                <a16:creationId xmlns:a16="http://schemas.microsoft.com/office/drawing/2014/main" id="{E5232F79-6454-4D7D-AEE2-82BBF080F6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104" y="3021242"/>
            <a:ext cx="6217920" cy="213225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13ED1-35BE-4E6C-A717-3F92DC0DE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656" y="2002536"/>
            <a:ext cx="3822192" cy="4169664"/>
          </a:xfrm>
        </p:spPr>
        <p:txBody>
          <a:bodyPr anchor="t">
            <a:normAutofit/>
          </a:bodyPr>
          <a:lstStyle/>
          <a:p>
            <a:r>
              <a:rPr lang="en-AU" sz="2200"/>
              <a:t>Recurrent Neural Network (RNN) is a special type of NN which is known as being an artificial type and is commonly used for time series predictions.</a:t>
            </a:r>
          </a:p>
          <a:p>
            <a:r>
              <a:rPr lang="en-AU" sz="2200"/>
              <a:t>It works on the principle </a:t>
            </a:r>
            <a:r>
              <a:rPr lang="en-AU" sz="2200" b="0" i="0">
                <a:effectLst/>
                <a:latin typeface="Roboto" panose="02000000000000000000" pitchFamily="2" charset="0"/>
              </a:rPr>
              <a:t>of saving the output of a particular layer and feeding this back to the input in order to predict the output of the layer.</a:t>
            </a:r>
            <a:endParaRPr lang="de-DE" sz="2200"/>
          </a:p>
        </p:txBody>
      </p:sp>
    </p:spTree>
    <p:extLst>
      <p:ext uri="{BB962C8B-B14F-4D97-AF65-F5344CB8AC3E}">
        <p14:creationId xmlns:p14="http://schemas.microsoft.com/office/powerpoint/2010/main" val="33044030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4C1C68-EDD4-4206-8D79-98849CB9B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GB" dirty="0"/>
              <a:t>Convolutional Neural Network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CA7DE-0CC8-48A8-B256-CD308D1585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10759998" cy="3917773"/>
          </a:xfrm>
        </p:spPr>
        <p:txBody>
          <a:bodyPr>
            <a:normAutofit/>
          </a:bodyPr>
          <a:lstStyle/>
          <a:p>
            <a:r>
              <a:rPr lang="en-AU" sz="2000" b="0" i="0" dirty="0">
                <a:effectLst/>
                <a:latin typeface="Roboto" panose="02000000000000000000" pitchFamily="2" charset="0"/>
              </a:rPr>
              <a:t>A convolutional neural network is a</a:t>
            </a:r>
            <a:r>
              <a:rPr lang="en-AU" sz="2000" b="1" i="0" dirty="0">
                <a:effectLst/>
                <a:latin typeface="Roboto" panose="02000000000000000000" pitchFamily="2" charset="0"/>
              </a:rPr>
              <a:t> </a:t>
            </a:r>
            <a:r>
              <a:rPr lang="en-AU" sz="2000" i="0" dirty="0">
                <a:effectLst/>
                <a:latin typeface="Roboto" panose="02000000000000000000" pitchFamily="2" charset="0"/>
              </a:rPr>
              <a:t>feed-forward neural network that is generally used to analyse visual images by processing data with grid-like topology.</a:t>
            </a:r>
          </a:p>
          <a:p>
            <a:endParaRPr lang="en-AU" sz="2000" dirty="0">
              <a:latin typeface="Roboto" panose="02000000000000000000" pitchFamily="2" charset="0"/>
            </a:endParaRPr>
          </a:p>
          <a:p>
            <a:pPr marL="0" indent="0">
              <a:buNone/>
            </a:pPr>
            <a:endParaRPr lang="en-AU" sz="2000" dirty="0">
              <a:latin typeface="Roboto" panose="02000000000000000000" pitchFamily="2" charset="0"/>
            </a:endParaRPr>
          </a:p>
          <a:p>
            <a:pPr marL="0" indent="0">
              <a:buNone/>
            </a:pPr>
            <a:endParaRPr lang="en-AU" sz="2000" dirty="0">
              <a:latin typeface="Ubuntu"/>
            </a:endParaRPr>
          </a:p>
          <a:p>
            <a:pPr marL="0" indent="0">
              <a:buNone/>
            </a:pPr>
            <a:r>
              <a:rPr lang="en-AU" b="1" dirty="0">
                <a:latin typeface="Ubuntu"/>
              </a:rPr>
              <a:t>Properties</a:t>
            </a:r>
            <a:endParaRPr lang="en-AU" sz="2000" b="1" dirty="0">
              <a:latin typeface="Ubuntu"/>
            </a:endParaRPr>
          </a:p>
          <a:p>
            <a:r>
              <a:rPr lang="en-AU" sz="2000" dirty="0">
                <a:latin typeface="Ubuntu"/>
              </a:rPr>
              <a:t>G</a:t>
            </a:r>
            <a:r>
              <a:rPr lang="en-AU" sz="2000" b="0" i="0" dirty="0">
                <a:effectLst/>
                <a:latin typeface="Ubuntu"/>
              </a:rPr>
              <a:t>ood at picking up on patterns in the input image</a:t>
            </a:r>
          </a:p>
          <a:p>
            <a:r>
              <a:rPr lang="en-AU" sz="2000" dirty="0">
                <a:latin typeface="Ubuntu"/>
              </a:rPr>
              <a:t>Contains many layers stacked on top of each other</a:t>
            </a:r>
            <a:endParaRPr lang="en-AU" sz="2000" b="0" i="0" dirty="0">
              <a:effectLst/>
              <a:latin typeface="Ubuntu"/>
            </a:endParaRPr>
          </a:p>
        </p:txBody>
      </p:sp>
      <p:pic>
        <p:nvPicPr>
          <p:cNvPr id="5" name="Picture 4" descr="Chart, bubble chart&#10;&#10;Description automatically generated">
            <a:extLst>
              <a:ext uri="{FF2B5EF4-FFF2-40B4-BE49-F238E27FC236}">
                <a16:creationId xmlns:a16="http://schemas.microsoft.com/office/drawing/2014/main" id="{96AE50D2-D7AC-464F-8C5A-C81506D808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7277" y="2848979"/>
            <a:ext cx="5050794" cy="2040453"/>
          </a:xfrm>
          <a:prstGeom prst="rect">
            <a:avLst/>
          </a:prstGeom>
        </p:spPr>
      </p:pic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689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109556B-EAE9-4435-B409-0519F2CBD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552267" cy="6858000"/>
          </a:xfrm>
          <a:prstGeom prst="rect">
            <a:avLst/>
          </a:prstGeom>
          <a:solidFill>
            <a:srgbClr val="234F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0F6D76-6497-4E43-9153-26AF360B3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6007027" cy="1499616"/>
          </a:xfrm>
        </p:spPr>
        <p:txBody>
          <a:bodyPr>
            <a:normAutofit/>
          </a:bodyPr>
          <a:lstStyle/>
          <a:p>
            <a:r>
              <a:rPr lang="en-US" sz="3900" dirty="0">
                <a:solidFill>
                  <a:srgbClr val="FFFFFF"/>
                </a:solidFill>
              </a:rPr>
              <a:t>Challenges of Weather Forecasting with Deep Learning</a:t>
            </a:r>
            <a:endParaRPr lang="de-DE" sz="3900" dirty="0">
              <a:solidFill>
                <a:srgbClr val="FFFFFF"/>
              </a:solidFill>
            </a:endParaRPr>
          </a:p>
        </p:txBody>
      </p:sp>
      <p:cxnSp>
        <p:nvCxnSpPr>
          <p:cNvPr id="27" name="Straight Connector 23">
            <a:extLst>
              <a:ext uri="{FF2B5EF4-FFF2-40B4-BE49-F238E27FC236}">
                <a16:creationId xmlns:a16="http://schemas.microsoft.com/office/drawing/2014/main" id="{5814CCBE-423E-41B2-A9F3-82679F490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F18DC-DE15-4505-A432-E2B6226BA8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6007027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1500" dirty="0">
                <a:solidFill>
                  <a:srgbClr val="FFFFFF"/>
                </a:solidFill>
              </a:rPr>
              <a:t>Weather forecasting is essentially a prediction of spatiotemporal features based on a diverse array of observations from ground-based, airborne and satellite platforms.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1500" dirty="0">
                <a:solidFill>
                  <a:srgbClr val="FFFFFF"/>
                </a:solidFill>
              </a:rPr>
              <a:t>Different processes determine the evolution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1500" dirty="0">
                <a:solidFill>
                  <a:srgbClr val="FFFFFF"/>
                </a:solidFill>
              </a:rPr>
              <a:t>There are missing and erroneous values in observation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1500" dirty="0">
                <a:solidFill>
                  <a:srgbClr val="FFFFFF"/>
                </a:solidFill>
              </a:rPr>
              <a:t>Coupling is across wide range of spatiotemporal scales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1500" dirty="0">
                <a:solidFill>
                  <a:srgbClr val="FFFFFF"/>
                </a:solidFill>
              </a:rPr>
              <a:t>There is auto correlation of time series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1500" dirty="0">
                <a:solidFill>
                  <a:srgbClr val="FFFFFF"/>
                </a:solidFill>
              </a:rPr>
              <a:t>There are dynamic correlations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1500" dirty="0">
                <a:solidFill>
                  <a:srgbClr val="FFFFFF"/>
                </a:solidFill>
              </a:rPr>
              <a:t>Periodicity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1500" dirty="0">
                <a:solidFill>
                  <a:srgbClr val="FFFFFF"/>
                </a:solidFill>
              </a:rPr>
              <a:t>Imbalanced data: scarcity of extreme events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1500" dirty="0">
                <a:solidFill>
                  <a:srgbClr val="FFFFFF"/>
                </a:solidFill>
              </a:rPr>
              <a:t>Strong need to quantify uncertainties </a:t>
            </a:r>
            <a:endParaRPr lang="de-DE" sz="1500" dirty="0">
              <a:solidFill>
                <a:srgbClr val="FFFFFF"/>
              </a:solidFill>
            </a:endParaRPr>
          </a:p>
        </p:txBody>
      </p:sp>
      <p:pic>
        <p:nvPicPr>
          <p:cNvPr id="7" name="Picture 6" descr="A person standing in front of a flag&#10;&#10;Description automatically generated with low confidence">
            <a:extLst>
              <a:ext uri="{FF2B5EF4-FFF2-40B4-BE49-F238E27FC236}">
                <a16:creationId xmlns:a16="http://schemas.microsoft.com/office/drawing/2014/main" id="{7EBB4575-28BB-4E5B-8420-A72A9007AF2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0" r="26134" b="-1"/>
          <a:stretch/>
        </p:blipFill>
        <p:spPr>
          <a:xfrm>
            <a:off x="7552266" y="10"/>
            <a:ext cx="4639734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511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EE1FC7B4-E4A7-4452-B413-1A623E3A7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bg1"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 13">
            <a:extLst>
              <a:ext uri="{FF2B5EF4-FFF2-40B4-BE49-F238E27FC236}">
                <a16:creationId xmlns:a16="http://schemas.microsoft.com/office/drawing/2014/main" id="{E0709AF0-24F0-4486-B189-BE6386BD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 11">
            <a:extLst>
              <a:ext uri="{FF2B5EF4-FFF2-40B4-BE49-F238E27FC236}">
                <a16:creationId xmlns:a16="http://schemas.microsoft.com/office/drawing/2014/main" id="{FBE3B62F-5853-4A3C-B050-6186351A7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C688AF-492E-420A-8217-A226A0379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002" y="448253"/>
            <a:ext cx="10520702" cy="1325563"/>
          </a:xfrm>
        </p:spPr>
        <p:txBody>
          <a:bodyPr>
            <a:normAutofit/>
          </a:bodyPr>
          <a:lstStyle/>
          <a:p>
            <a:r>
              <a:rPr lang="en-GB" dirty="0"/>
              <a:t>Research Methodology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7F05E-871F-4606-906B-89E51BAD8A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91807"/>
            <a:ext cx="5257800" cy="3985155"/>
          </a:xfrm>
        </p:spPr>
        <p:txBody>
          <a:bodyPr>
            <a:normAutofit/>
          </a:bodyPr>
          <a:lstStyle/>
          <a:p>
            <a:r>
              <a:rPr lang="en-GB" dirty="0"/>
              <a:t>Finding the right dataset</a:t>
            </a:r>
          </a:p>
          <a:p>
            <a:pPr marL="0" indent="0">
              <a:buNone/>
            </a:pPr>
            <a:r>
              <a:rPr lang="de-DE" sz="1400" dirty="0"/>
              <a:t>Kaggle, FiveThirtyEight, Socarta and Github Repositories</a:t>
            </a:r>
          </a:p>
          <a:p>
            <a:r>
              <a:rPr lang="de-DE" sz="2400" dirty="0"/>
              <a:t>Getting it ready to be used </a:t>
            </a:r>
          </a:p>
          <a:p>
            <a:r>
              <a:rPr lang="de-DE" sz="2400" dirty="0"/>
              <a:t>Filtering out unnecessary information</a:t>
            </a:r>
          </a:p>
          <a:p>
            <a:r>
              <a:rPr lang="de-DE" sz="2400" dirty="0"/>
              <a:t>Processing the data </a:t>
            </a:r>
          </a:p>
          <a:p>
            <a:r>
              <a:rPr lang="de-DE" sz="2400" dirty="0"/>
              <a:t>Implementing DL Algorithm</a:t>
            </a:r>
          </a:p>
          <a:p>
            <a:r>
              <a:rPr lang="de-DE" sz="2400" dirty="0"/>
              <a:t>Forecasting Weather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092AD664-689B-42DD-9CE8-89204109F6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3709" y="3530368"/>
            <a:ext cx="5683045" cy="1308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4978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2471B-29DB-49C8-BCB8-D2A800064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Implementation</a:t>
            </a:r>
            <a:endParaRPr lang="de-DE" dirty="0"/>
          </a:p>
        </p:txBody>
      </p:sp>
      <p:pic>
        <p:nvPicPr>
          <p:cNvPr id="5" name="Content Placeholder 4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A786ED95-ECF7-4758-BB29-ED9E471EBB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052" y="3114368"/>
            <a:ext cx="9865481" cy="265806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7881B7-0166-420C-B1DC-12BDC18CB775}"/>
              </a:ext>
            </a:extLst>
          </p:cNvPr>
          <p:cNvSpPr txBox="1"/>
          <p:nvPr/>
        </p:nvSpPr>
        <p:spPr>
          <a:xfrm>
            <a:off x="1052052" y="2217862"/>
            <a:ext cx="9684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Reducing and normalising the data set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289676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C1176B-D7FC-44CF-8D04-5152AA7CA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Implementation in Python Code</a:t>
            </a:r>
          </a:p>
        </p:txBody>
      </p:sp>
      <p:pic>
        <p:nvPicPr>
          <p:cNvPr id="5" name="Content Placeholder 4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3C41361F-10A9-4787-812D-4DA9272DAF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2154779"/>
            <a:ext cx="10905066" cy="3435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2475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2F878E-F385-4927-9FF1-94443E8CD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Dropping the less important variables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636EC48-C539-4C8C-B043-2C7429245B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060" y="1675227"/>
            <a:ext cx="10043879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833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6A17D8-9043-4F4B-A2FC-7866ACED7A2C}"/>
              </a:ext>
            </a:extLst>
          </p:cNvPr>
          <p:cNvSpPr txBox="1"/>
          <p:nvPr/>
        </p:nvSpPr>
        <p:spPr>
          <a:xfrm>
            <a:off x="556532" y="643467"/>
            <a:ext cx="11210925" cy="744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Converting categorical data into numerical data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11AC398-F554-4F54-8F75-72C2996B28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47"/>
          <a:stretch/>
        </p:blipFill>
        <p:spPr>
          <a:xfrm>
            <a:off x="1655097" y="1675227"/>
            <a:ext cx="8881806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0463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900442-9394-4944-BCF4-FD6637436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Training the data</a:t>
            </a:r>
          </a:p>
        </p:txBody>
      </p:sp>
      <p:pic>
        <p:nvPicPr>
          <p:cNvPr id="5" name="Content Placeholder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6483FDE8-5B29-4806-B077-9F99FC5D37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2522825"/>
            <a:ext cx="10905066" cy="269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5520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922BD39-6B5B-493A-BE62-58ECD0F7A7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Graphic 11">
            <a:extLst>
              <a:ext uri="{FF2B5EF4-FFF2-40B4-BE49-F238E27FC236}">
                <a16:creationId xmlns:a16="http://schemas.microsoft.com/office/drawing/2014/main" id="{4741521E-DC76-41B9-8A47-448CD4F9FA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3372661" y="-3359290"/>
            <a:ext cx="5470372" cy="121889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FB0C26B-4F2F-4C28-9470-BB040F5DC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632" y="184336"/>
            <a:ext cx="9283781" cy="140596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000"/>
              <a:t>Measuring the Accuracy and Result</a:t>
            </a:r>
          </a:p>
        </p:txBody>
      </p:sp>
      <p:sp>
        <p:nvSpPr>
          <p:cNvPr id="18" name="Rectangle 13">
            <a:extLst>
              <a:ext uri="{FF2B5EF4-FFF2-40B4-BE49-F238E27FC236}">
                <a16:creationId xmlns:a16="http://schemas.microsoft.com/office/drawing/2014/main" id="{53FD85F6-ECDC-4124-9916-6444E142C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078" y="685797"/>
            <a:ext cx="118872" cy="15504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960FBDC3-F338-4795-BAF7-6DFD682D22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53" b="-1"/>
          <a:stretch/>
        </p:blipFill>
        <p:spPr>
          <a:xfrm>
            <a:off x="378438" y="2703063"/>
            <a:ext cx="11432074" cy="311822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FB5D26B4-74AD-4118-8F13-7051DA3BF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73128" y="6172201"/>
            <a:ext cx="118872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2102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A5B4632-C963-4296-86F0-79AA9EA5AE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8328" y="303591"/>
            <a:ext cx="4335327" cy="589674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0" cap="sq" cmpd="thinThick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7DB0BE-3B0C-4D68-BDCE-8FC6818EF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637125"/>
            <a:ext cx="3802276" cy="5256371"/>
          </a:xfrm>
        </p:spPr>
        <p:txBody>
          <a:bodyPr>
            <a:normAutofit/>
          </a:bodyPr>
          <a:lstStyle/>
          <a:p>
            <a:r>
              <a:rPr lang="en-GB" sz="4800">
                <a:solidFill>
                  <a:schemeClr val="bg1"/>
                </a:solidFill>
              </a:rPr>
              <a:t>Conclusion</a:t>
            </a:r>
            <a:endParaRPr lang="de-DE" sz="4800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6EED1FD-6005-4C07-BE72-ABD474FE5C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1340496"/>
              </p:ext>
            </p:extLst>
          </p:nvPr>
        </p:nvGraphicFramePr>
        <p:xfrm>
          <a:off x="5166985" y="303591"/>
          <a:ext cx="6588691" cy="58967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675448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7FD18-A727-41D7-9938-201F36757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CD458-3B55-4985-AA9F-74EA12AB35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1800" dirty="0"/>
              <a:t>Lynch P. 2008The origins of computer weather prediction and climate </a:t>
            </a:r>
            <a:r>
              <a:rPr lang="en-AU" sz="1800" dirty="0" err="1"/>
              <a:t>modeling</a:t>
            </a:r>
            <a:r>
              <a:rPr lang="en-AU" sz="1800" dirty="0"/>
              <a:t>. J. </a:t>
            </a:r>
            <a:r>
              <a:rPr lang="en-AU" sz="1800" dirty="0" err="1"/>
              <a:t>Comput</a:t>
            </a:r>
            <a:r>
              <a:rPr lang="en-AU" sz="1800" dirty="0"/>
              <a:t>. Phys. 227, 3431–3444.</a:t>
            </a:r>
          </a:p>
          <a:p>
            <a:r>
              <a:rPr lang="en-AU" sz="1800" dirty="0" err="1"/>
              <a:t>Linnainmaa</a:t>
            </a:r>
            <a:r>
              <a:rPr lang="en-AU" sz="1800" dirty="0"/>
              <a:t> S. 1970The representation of the cumulative rounding error of an algorithm as a </a:t>
            </a:r>
            <a:r>
              <a:rPr lang="en-AU" sz="1800" dirty="0" err="1"/>
              <a:t>taylor</a:t>
            </a:r>
            <a:r>
              <a:rPr lang="en-AU" sz="1800" dirty="0"/>
              <a:t> expansion of the local rounding errors. Master’s Thesis (in Finnish), Univ. Helsinki.</a:t>
            </a:r>
          </a:p>
          <a:p>
            <a:r>
              <a:rPr lang="en-AU" sz="1800" dirty="0" err="1"/>
              <a:t>Bengio</a:t>
            </a:r>
            <a:r>
              <a:rPr lang="en-AU" sz="1800" dirty="0"/>
              <a:t>, Y., </a:t>
            </a:r>
            <a:r>
              <a:rPr lang="en-AU" sz="1800" dirty="0" err="1"/>
              <a:t>Lamblin</a:t>
            </a:r>
            <a:r>
              <a:rPr lang="en-AU" sz="1800" dirty="0"/>
              <a:t>, P., </a:t>
            </a:r>
            <a:r>
              <a:rPr lang="en-AU" sz="1800" dirty="0" err="1"/>
              <a:t>Popovici</a:t>
            </a:r>
            <a:r>
              <a:rPr lang="en-AU" sz="1800" dirty="0"/>
              <a:t>, D., and Larochelle, H. ”Greedy </a:t>
            </a:r>
            <a:r>
              <a:rPr lang="en-AU" sz="1800" dirty="0" err="1"/>
              <a:t>layerwise</a:t>
            </a:r>
            <a:r>
              <a:rPr lang="en-AU" sz="1800" dirty="0"/>
              <a:t> training of deep networks.,” Advances in neural information processing systems, vol. 19 (153) 2007. </a:t>
            </a:r>
          </a:p>
          <a:p>
            <a:r>
              <a:rPr lang="en-AU" sz="1800" dirty="0"/>
              <a:t>Kaggle.com. 2022. Weather prediction. [online] Available at: ¡https://www.kaggle.com/</a:t>
            </a:r>
            <a:r>
              <a:rPr lang="en-AU" sz="1800" dirty="0" err="1"/>
              <a:t>dheerajbalchandani</a:t>
            </a:r>
            <a:r>
              <a:rPr lang="en-AU" sz="1800" dirty="0"/>
              <a:t>/weather-prediction/data¿ [Accessed 12 January 2022].</a:t>
            </a:r>
          </a:p>
          <a:p>
            <a:r>
              <a:rPr lang="en-AU" sz="1800" dirty="0" err="1"/>
              <a:t>DeepAI</a:t>
            </a:r>
            <a:r>
              <a:rPr lang="en-AU" sz="1800" dirty="0"/>
              <a:t>. 2022. Convolutional Neural Network. [online] Available at: &lt;https://deepai.org/machine-learning-glossary-and-terms/convolutional-neural-network.</a:t>
            </a:r>
          </a:p>
          <a:p>
            <a:r>
              <a:rPr lang="en-AU" sz="1800" dirty="0"/>
              <a:t>2022. [online] Available at: &lt;https://www.simplilearn.com/tutorials/deep-learning-tutorial/convolutional-neural-network.</a:t>
            </a:r>
            <a:endParaRPr lang="de-DE" sz="1800" dirty="0"/>
          </a:p>
        </p:txBody>
      </p:sp>
    </p:spTree>
    <p:extLst>
      <p:ext uri="{BB962C8B-B14F-4D97-AF65-F5344CB8AC3E}">
        <p14:creationId xmlns:p14="http://schemas.microsoft.com/office/powerpoint/2010/main" val="28976642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3D09407-53BC-485E-B4CE-BC5E4FC4B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21DB988-49FC-4608-B0A2-E2F3A401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2B4B1A-2F04-4F31-9EBA-0CB8F2AD4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903" y="3399769"/>
            <a:ext cx="10640754" cy="7758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Questions?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9B930FD-8671-4C4C-ADCF-73AC1D0CD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35B12C1-569C-4E37-AA33-7EF215F201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23E2660-7810-46F6-8752-187127C83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991DC45-0378-45B3-B325-FB8F98545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228F5BA-5150-4554-B7EA-93F371F3B1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Graphic 6" descr="Question mark">
            <a:extLst>
              <a:ext uri="{FF2B5EF4-FFF2-40B4-BE49-F238E27FC236}">
                <a16:creationId xmlns:a16="http://schemas.microsoft.com/office/drawing/2014/main" id="{C8291748-C64F-46E7-833C-B1FDF988D6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6990" y="320231"/>
            <a:ext cx="2836567" cy="2836567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383C2651-AE0C-4AE4-8725-E2F9414FE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CCE13265-B5D2-47B4-A199-E05F390D5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693EBD03-D832-462C-9304-7273698ED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D53D3E2-805E-40D2-964F-352BF6D47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7A9A916-A926-43E6-800F-432ABC3F2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923563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643BE6C-86B7-4AB9-91E8-9B5DB45AC8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88" y="0"/>
            <a:ext cx="12188825" cy="42428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021110-3BF6-4C34-947C-DFEC76368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026" y="713195"/>
            <a:ext cx="9605948" cy="231866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F7AB169B-B413-4EF6-B197-25B7736F44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06089" y="4805363"/>
            <a:ext cx="1179824" cy="1179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204989"/>
      </p:ext>
    </p:extLst>
  </p:cSld>
  <p:clrMapOvr>
    <a:masterClrMapping/>
  </p:clrMapOvr>
</p:sld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_rels/them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theme/_rels/them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16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3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4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5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6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7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8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830</Words>
  <Application>Microsoft Office PowerPoint</Application>
  <PresentationFormat>Widescreen</PresentationFormat>
  <Paragraphs>95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8</vt:i4>
      </vt:variant>
      <vt:variant>
        <vt:lpstr>Slide Titles</vt:lpstr>
      </vt:variant>
      <vt:variant>
        <vt:i4>22</vt:i4>
      </vt:variant>
    </vt:vector>
  </HeadingPairs>
  <TitlesOfParts>
    <vt:vector size="43" baseType="lpstr">
      <vt:lpstr>Adelle W01 Regular</vt:lpstr>
      <vt:lpstr>Arial</vt:lpstr>
      <vt:lpstr>Calibri</vt:lpstr>
      <vt:lpstr>Calibri Light</vt:lpstr>
      <vt:lpstr>Century Gothic</vt:lpstr>
      <vt:lpstr>Garamond</vt:lpstr>
      <vt:lpstr>Lato</vt:lpstr>
      <vt:lpstr>Roboto</vt:lpstr>
      <vt:lpstr>Trebuchet MS</vt:lpstr>
      <vt:lpstr>Tw Cen MT</vt:lpstr>
      <vt:lpstr>Tw Cen MT Condensed</vt:lpstr>
      <vt:lpstr>Ubuntu</vt:lpstr>
      <vt:lpstr>Wingdings 3</vt:lpstr>
      <vt:lpstr>Office Theme</vt:lpstr>
      <vt:lpstr>Retrospect</vt:lpstr>
      <vt:lpstr>Wisp</vt:lpstr>
      <vt:lpstr>Ion</vt:lpstr>
      <vt:lpstr>Ion Boardroom</vt:lpstr>
      <vt:lpstr>Organic</vt:lpstr>
      <vt:lpstr>Berlin</vt:lpstr>
      <vt:lpstr>Integral</vt:lpstr>
      <vt:lpstr>Evaluation of Weather Forecast with Deep Learning   </vt:lpstr>
      <vt:lpstr>“Researchers have found that merely asking people to assume their initial judgment is wrong, to seriously consider why that might be, and then make another judgment, produces a second estimate which, when combined with the first, improves accuracy almost as much as getting a second estimate from another person.”</vt:lpstr>
      <vt:lpstr>Agenda</vt:lpstr>
      <vt:lpstr>Personal Motivation</vt:lpstr>
      <vt:lpstr>Introduction</vt:lpstr>
      <vt:lpstr>Properties of Deep Learning</vt:lpstr>
      <vt:lpstr>Machine Learning</vt:lpstr>
      <vt:lpstr>Neural Network</vt:lpstr>
      <vt:lpstr>Recurrent Neural Network</vt:lpstr>
      <vt:lpstr>Convolutional Neural Network</vt:lpstr>
      <vt:lpstr>Challenges of Weather Forecasting with Deep Learning</vt:lpstr>
      <vt:lpstr>Research Methodology</vt:lpstr>
      <vt:lpstr>Implementation</vt:lpstr>
      <vt:lpstr>Implementation in Python Code</vt:lpstr>
      <vt:lpstr>Dropping the less important variables</vt:lpstr>
      <vt:lpstr>PowerPoint Presentation</vt:lpstr>
      <vt:lpstr>Training the data</vt:lpstr>
      <vt:lpstr>Measuring the Accuracy and Result</vt:lpstr>
      <vt:lpstr>Conclusion</vt:lpstr>
      <vt:lpstr>References</vt:lpstr>
      <vt:lpstr>Questions?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Evaluation of Weather Forecast with Deep Learning   </dc:title>
  <dc:creator>Muhammad Moaz Amin</dc:creator>
  <cp:lastModifiedBy>Muhammad Moaz Amin</cp:lastModifiedBy>
  <cp:revision>1</cp:revision>
  <dcterms:created xsi:type="dcterms:W3CDTF">2022-02-10T06:36:52Z</dcterms:created>
  <dcterms:modified xsi:type="dcterms:W3CDTF">2022-02-10T21:44:48Z</dcterms:modified>
</cp:coreProperties>
</file>